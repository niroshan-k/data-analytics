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203" autoAdjust="0"/>
  </p:normalViewPr>
  <p:slideViewPr>
    <p:cSldViewPr snapToGrid="0">
      <p:cViewPr varScale="1">
        <p:scale>
          <a:sx n="91" d="100"/>
          <a:sy n="91" d="100"/>
        </p:scale>
        <p:origin x="1350" y="78"/>
      </p:cViewPr>
      <p:guideLst/>
    </p:cSldViewPr>
  </p:slideViewPr>
  <p:notesTextViewPr>
    <p:cViewPr>
      <p:scale>
        <a:sx n="1" d="1"/>
        <a:sy n="1" d="1"/>
      </p:scale>
      <p:origin x="0" y="0"/>
    </p:cViewPr>
  </p:notesTextViewPr>
  <p:gridSpacing cx="38100" cy="381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3B61B9-C494-456F-85E8-27F47154C544}" type="datetimeFigureOut">
              <a:rPr lang="en-US" smtClean="0"/>
              <a:t>2/19/2026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10799E-1A84-4453-A0C6-0CC5DC904209}" type="slidenum">
              <a:rPr lang="en-US" smtClean="0"/>
              <a:t>‹#›</a:t>
            </a:fld>
            <a:endParaRPr lang="en-US"/>
          </a:p>
        </p:txBody>
      </p:sp>
    </p:spTree>
    <p:extLst>
      <p:ext uri="{BB962C8B-B14F-4D97-AF65-F5344CB8AC3E}">
        <p14:creationId xmlns:p14="http://schemas.microsoft.com/office/powerpoint/2010/main" val="883574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am presenting a solution designed to address one of the most persistent challenges in our national security: </a:t>
            </a:r>
            <a:r>
              <a:rPr lang="en-US" b="1" dirty="0"/>
              <a:t>Recidivism</a:t>
            </a:r>
            <a:r>
              <a:rPr lang="en-US" dirty="0"/>
              <a:t>.</a:t>
            </a:r>
          </a:p>
          <a:p>
            <a:r>
              <a:rPr lang="en-US" dirty="0"/>
              <a:t>In Sri Lanka, the police force often relies on manual records and intuition to identify repeat offenders. However, as the complexity of crime evolves, our methods must evolve too. My project, titled </a:t>
            </a:r>
            <a:r>
              <a:rPr lang="en-US" b="1" dirty="0"/>
              <a:t>'A Biometric-Driven Machine Learning Framework for Recidivism Prediction,'</a:t>
            </a:r>
            <a:r>
              <a:rPr lang="en-US" dirty="0"/>
              <a:t> proposes a shift from reactive policing to proactive prevention.</a:t>
            </a:r>
          </a:p>
          <a:p>
            <a:r>
              <a:rPr lang="en-US" dirty="0"/>
              <a:t>By fusing traditional criminal records with advanced behavioral biometrics—specifically </a:t>
            </a:r>
            <a:r>
              <a:rPr lang="en-US" b="1" dirty="0"/>
              <a:t>Gait Analysis</a:t>
            </a:r>
            <a:r>
              <a:rPr lang="en-US" dirty="0"/>
              <a:t>—and social network intelligence, we have built a model that doesn't just look at </a:t>
            </a:r>
            <a:r>
              <a:rPr lang="en-US" i="1" dirty="0"/>
              <a:t>who</a:t>
            </a:r>
            <a:r>
              <a:rPr lang="en-US" dirty="0"/>
              <a:t> a suspect is, but </a:t>
            </a:r>
            <a:r>
              <a:rPr lang="en-US" i="1" dirty="0"/>
              <a:t>how</a:t>
            </a:r>
            <a:r>
              <a:rPr lang="en-US" dirty="0"/>
              <a:t> they behave.</a:t>
            </a:r>
          </a:p>
          <a:p>
            <a:r>
              <a:rPr lang="en-US" dirty="0"/>
              <a:t>Over the next 15 minutes, I will show you how we achieved </a:t>
            </a:r>
            <a:r>
              <a:rPr lang="en-US" b="1" dirty="0"/>
              <a:t>94% accuracy</a:t>
            </a:r>
            <a:r>
              <a:rPr lang="en-US" dirty="0"/>
              <a:t> in identifying high-risk individuals and how this technology can be used to optimize our 60,000-strong police force to protect the citizens of Sri Lanka."</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1</a:t>
            </a:fld>
            <a:endParaRPr lang="en-US"/>
          </a:p>
        </p:txBody>
      </p:sp>
    </p:spTree>
    <p:extLst>
      <p:ext uri="{BB962C8B-B14F-4D97-AF65-F5344CB8AC3E}">
        <p14:creationId xmlns:p14="http://schemas.microsoft.com/office/powerpoint/2010/main" val="3308252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why this project is necessary, we must look at the numbers. The police operate a massive network of over </a:t>
            </a:r>
            <a:r>
              <a:rPr lang="en-US" b="1" dirty="0"/>
              <a:t>607 stations</a:t>
            </a:r>
            <a:r>
              <a:rPr lang="en-US" dirty="0"/>
              <a:t>. In 2024 alone, they processed nearly </a:t>
            </a:r>
            <a:r>
              <a:rPr lang="en-US" b="1" dirty="0"/>
              <a:t>215,000 fingerprint applications</a:t>
            </a:r>
            <a:r>
              <a:rPr lang="en-US" dirty="0"/>
              <a:t>. This is a classic 'Big Data' scenario in terms of </a:t>
            </a:r>
            <a:r>
              <a:rPr lang="en-US" b="1" dirty="0"/>
              <a:t>Volume</a:t>
            </a:r>
            <a:r>
              <a:rPr lang="en-US" dirty="0"/>
              <a:t>.</a:t>
            </a:r>
          </a:p>
          <a:p>
            <a:endParaRPr lang="en-US" dirty="0"/>
          </a:p>
          <a:p>
            <a:r>
              <a:rPr lang="en-US" dirty="0"/>
              <a:t>However, the organization is facing a critical </a:t>
            </a:r>
            <a:r>
              <a:rPr lang="en-US" b="1" dirty="0"/>
              <a:t>Operational Pain Point</a:t>
            </a:r>
            <a:r>
              <a:rPr lang="en-US" dirty="0"/>
              <a:t>. They are currently short-staffed by over </a:t>
            </a:r>
            <a:r>
              <a:rPr lang="en-US" b="1" dirty="0"/>
              <a:t>22,000 officers</a:t>
            </a:r>
            <a:r>
              <a:rPr lang="en-US" dirty="0"/>
              <a:t>. That is a 25% deficit in their workforce.</a:t>
            </a:r>
          </a:p>
          <a:p>
            <a:r>
              <a:rPr lang="en-US" dirty="0"/>
              <a:t>The core problem is that their data is 'siloed'. When a suspect is arrested in a rural area, their records are often written in a manual </a:t>
            </a:r>
            <a:r>
              <a:rPr lang="en-US" b="1" dirty="0"/>
              <a:t>Complaint Book</a:t>
            </a:r>
            <a:r>
              <a:rPr lang="en-US" dirty="0"/>
              <a:t>. To verify if this person is a repeat offender, physical fingerprint cards have to be mailed to Colombo, which takes days. In a modern investigation, we don't have days—we have hours.</a:t>
            </a:r>
          </a:p>
          <a:p>
            <a:endParaRPr lang="en-US" dirty="0"/>
          </a:p>
          <a:p>
            <a:r>
              <a:rPr lang="en-US" dirty="0"/>
              <a:t>Therefore, the goal of this solution is to move from this slow, manual process to a </a:t>
            </a:r>
            <a:r>
              <a:rPr lang="en-US" b="1" dirty="0"/>
              <a:t>real-time digital intelligence system</a:t>
            </a:r>
            <a:r>
              <a:rPr lang="en-US" dirty="0"/>
              <a:t> that acts as a 'force multiplier' for the limited police workforce."</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2</a:t>
            </a:fld>
            <a:endParaRPr lang="en-US"/>
          </a:p>
        </p:txBody>
      </p:sp>
    </p:spTree>
    <p:extLst>
      <p:ext uri="{BB962C8B-B14F-4D97-AF65-F5344CB8AC3E}">
        <p14:creationId xmlns:p14="http://schemas.microsoft.com/office/powerpoint/2010/main" val="1289726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 to the core problem. As we analyzed the current system, we identified a significant </a:t>
            </a:r>
            <a:r>
              <a:rPr lang="en-US" b="1" dirty="0"/>
              <a:t>'Analytical Gap'</a:t>
            </a:r>
            <a:r>
              <a:rPr lang="en-US" dirty="0"/>
              <a:t>.</a:t>
            </a:r>
          </a:p>
          <a:p>
            <a:r>
              <a:rPr lang="en-US" dirty="0"/>
              <a:t>The fundamental issue is that the Sri Lanka Police operates on a </a:t>
            </a:r>
            <a:r>
              <a:rPr lang="en-US" b="1" dirty="0"/>
              <a:t>Reactive Model</a:t>
            </a:r>
            <a:r>
              <a:rPr lang="en-US" dirty="0"/>
              <a:t>. We treat data as something to be </a:t>
            </a:r>
            <a:r>
              <a:rPr lang="en-US" i="1" dirty="0"/>
              <a:t>stored</a:t>
            </a:r>
            <a:r>
              <a:rPr lang="en-US" dirty="0"/>
              <a:t>, not something to be </a:t>
            </a:r>
            <a:r>
              <a:rPr lang="en-US" i="1" dirty="0"/>
              <a:t>mined</a:t>
            </a:r>
            <a:r>
              <a:rPr lang="en-US" dirty="0"/>
              <a:t>. Currently, the system can tell us 'Who was arrested yesterday?', but it cannot tell us 'Who is likely to commit a crime tomorrow?’.</a:t>
            </a:r>
          </a:p>
          <a:p>
            <a:endParaRPr lang="en-US" dirty="0"/>
          </a:p>
          <a:p>
            <a:r>
              <a:rPr lang="en-US" dirty="0"/>
              <a:t>This creates a blind spot. In 2024, there were over 27,000 registered criminals. The system flagged about 2,700 of them as repeat offenders—but only </a:t>
            </a:r>
            <a:r>
              <a:rPr lang="en-US" i="1" dirty="0"/>
              <a:t>after</a:t>
            </a:r>
            <a:r>
              <a:rPr lang="en-US" dirty="0"/>
              <a:t> they had already committed that second crime.</a:t>
            </a:r>
          </a:p>
          <a:p>
            <a:endParaRPr lang="en-US" dirty="0"/>
          </a:p>
          <a:p>
            <a:r>
              <a:rPr lang="en-US" dirty="0"/>
              <a:t>The </a:t>
            </a:r>
            <a:r>
              <a:rPr lang="en-US" b="1" dirty="0"/>
              <a:t>Missing Capability</a:t>
            </a:r>
            <a:r>
              <a:rPr lang="en-US" dirty="0"/>
              <a:t> here is </a:t>
            </a:r>
            <a:r>
              <a:rPr lang="en-US" b="1" dirty="0"/>
              <a:t>Predictive Risk Scoring</a:t>
            </a:r>
            <a:r>
              <a:rPr lang="en-US" dirty="0"/>
              <a:t>. When an officer has to make a bail decision, they rely on intuition because the data is silent.</a:t>
            </a:r>
          </a:p>
          <a:p>
            <a:r>
              <a:rPr lang="en-US" dirty="0"/>
              <a:t>Therefore, my primary </a:t>
            </a:r>
            <a:r>
              <a:rPr lang="en-US" b="1" dirty="0"/>
              <a:t>Research Question</a:t>
            </a:r>
            <a:r>
              <a:rPr lang="en-US" dirty="0"/>
              <a:t> is: How can we bridge this gap? How can we take this dormant historical data—the biometrics and the arrest logs—and use Machine Learning to calculate a probability score for </a:t>
            </a:r>
            <a:r>
              <a:rPr lang="en-US" b="1" dirty="0"/>
              <a:t>Recidivism</a:t>
            </a:r>
            <a:r>
              <a:rPr lang="en-US" dirty="0"/>
              <a:t> before the suspect is released?"</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3</a:t>
            </a:fld>
            <a:endParaRPr lang="en-US"/>
          </a:p>
        </p:txBody>
      </p:sp>
    </p:spTree>
    <p:extLst>
      <p:ext uri="{BB962C8B-B14F-4D97-AF65-F5344CB8AC3E}">
        <p14:creationId xmlns:p14="http://schemas.microsoft.com/office/powerpoint/2010/main" val="32696807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our first Learning Objective (LO1), we apply the </a:t>
            </a:r>
            <a:r>
              <a:rPr lang="en-US" b="1" dirty="0"/>
              <a:t>Knowledge Discovery in Databases (KDD)</a:t>
            </a:r>
            <a:r>
              <a:rPr lang="en-US" dirty="0"/>
              <a:t> framework. This is the theoretical engine of our solution.</a:t>
            </a:r>
          </a:p>
          <a:p>
            <a:r>
              <a:rPr lang="en-US" dirty="0"/>
              <a:t>For the Sri Lanka Police, KDD is not just a technical step; it's an organizational transformation. We start with </a:t>
            </a:r>
            <a:r>
              <a:rPr lang="en-US" b="1" dirty="0"/>
              <a:t>Raw Data</a:t>
            </a:r>
            <a:r>
              <a:rPr lang="en-US" dirty="0"/>
              <a:t>—specifically, the 214,000 fingerprint images and manual logbooks.</a:t>
            </a:r>
          </a:p>
          <a:p>
            <a:r>
              <a:rPr lang="en-US" dirty="0"/>
              <a:t>In the </a:t>
            </a:r>
            <a:r>
              <a:rPr lang="en-US" b="1" dirty="0"/>
              <a:t>Transformation</a:t>
            </a:r>
            <a:r>
              <a:rPr lang="en-US" dirty="0"/>
              <a:t> phase, we convert this messy, unstructured data into structured numerical values. For example, a fingerprint image becomes a 'Biometric Hash', and a crime description becomes a category code.</a:t>
            </a:r>
          </a:p>
          <a:p>
            <a:r>
              <a:rPr lang="en-US" dirty="0"/>
              <a:t>Finally, the </a:t>
            </a:r>
            <a:r>
              <a:rPr lang="en-US" b="1" dirty="0"/>
              <a:t>Data Mining</a:t>
            </a:r>
            <a:r>
              <a:rPr lang="en-US" dirty="0"/>
              <a:t> phase uses algorithms to find hidden patterns. The ultimate </a:t>
            </a:r>
            <a:r>
              <a:rPr lang="en-US" b="1" dirty="0"/>
              <a:t>Knowledge</a:t>
            </a:r>
            <a:r>
              <a:rPr lang="en-US" dirty="0"/>
              <a:t> produced isn't just a table of numbers—it's a clear, actionable alert for the officer: 'This suspect has a High Risk of re-offending'. </a:t>
            </a:r>
            <a:r>
              <a:rPr lang="en-US"/>
              <a:t>This shifts the focus from simple storage to active intelligence."</a:t>
            </a:r>
          </a:p>
          <a:p>
            <a:endParaRPr lang="en-US"/>
          </a:p>
        </p:txBody>
      </p:sp>
      <p:sp>
        <p:nvSpPr>
          <p:cNvPr id="4" name="Slide Number Placeholder 3"/>
          <p:cNvSpPr>
            <a:spLocks noGrp="1"/>
          </p:cNvSpPr>
          <p:nvPr>
            <p:ph type="sldNum" sz="quarter" idx="5"/>
          </p:nvPr>
        </p:nvSpPr>
        <p:spPr/>
        <p:txBody>
          <a:bodyPr/>
          <a:lstStyle/>
          <a:p>
            <a:fld id="{B010799E-1A84-4453-A0C6-0CC5DC904209}" type="slidenum">
              <a:rPr lang="en-US" smtClean="0"/>
              <a:t>4</a:t>
            </a:fld>
            <a:endParaRPr lang="en-US"/>
          </a:p>
        </p:txBody>
      </p:sp>
    </p:spTree>
    <p:extLst>
      <p:ext uri="{BB962C8B-B14F-4D97-AF65-F5344CB8AC3E}">
        <p14:creationId xmlns:p14="http://schemas.microsoft.com/office/powerpoint/2010/main" val="3934893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 classic 'Big Data' challenge, which we analyze using the </a:t>
            </a:r>
            <a:r>
              <a:rPr lang="en-US" b="1" dirty="0"/>
              <a:t>4 Vs framework</a:t>
            </a:r>
            <a:r>
              <a:rPr lang="en-US" dirty="0"/>
              <a:t>.</a:t>
            </a:r>
          </a:p>
          <a:p>
            <a:r>
              <a:rPr lang="en-US" dirty="0"/>
              <a:t>First, </a:t>
            </a:r>
            <a:r>
              <a:rPr lang="en-US" b="1" dirty="0"/>
              <a:t>Volume</a:t>
            </a:r>
            <a:r>
              <a:rPr lang="en-US" dirty="0"/>
              <a:t>: The Sri Lanka Police generates massive amounts of data—over </a:t>
            </a:r>
            <a:r>
              <a:rPr lang="en-US" b="1" dirty="0"/>
              <a:t>214,000 fingerprint records</a:t>
            </a:r>
            <a:r>
              <a:rPr lang="en-US" dirty="0"/>
              <a:t> in 2024 alone. A single station cannot hold this; we need a cloud warehouse.</a:t>
            </a:r>
          </a:p>
          <a:p>
            <a:r>
              <a:rPr lang="en-US" dirty="0"/>
              <a:t>Second, </a:t>
            </a:r>
            <a:r>
              <a:rPr lang="en-US" b="1" dirty="0"/>
              <a:t>Velocity</a:t>
            </a:r>
            <a:r>
              <a:rPr lang="en-US" dirty="0"/>
              <a:t>: This is where the current system fails. Criminals move fast, but manual record checks take days. Our solution targets </a:t>
            </a:r>
            <a:r>
              <a:rPr lang="en-US" b="1" dirty="0"/>
              <a:t>real-time velocity</a:t>
            </a:r>
            <a:r>
              <a:rPr lang="en-US" dirty="0"/>
              <a:t>, ensuring an officer gets an answer in seconds during a checkpoint stop.</a:t>
            </a:r>
          </a:p>
          <a:p>
            <a:r>
              <a:rPr lang="en-US" dirty="0"/>
              <a:t>Third, </a:t>
            </a:r>
            <a:r>
              <a:rPr lang="en-US" b="1" dirty="0"/>
              <a:t>Variety</a:t>
            </a:r>
            <a:r>
              <a:rPr lang="en-US" dirty="0"/>
              <a:t>: Police data isn't just text in a spreadsheet. It includes mugshots, CCTV footage, and fingerprints. Our proposed </a:t>
            </a:r>
            <a:r>
              <a:rPr lang="en-US" b="1" dirty="0"/>
              <a:t>Multi-Modal architecture</a:t>
            </a:r>
            <a:r>
              <a:rPr lang="en-US" dirty="0"/>
              <a:t> integrates these different formats.</a:t>
            </a:r>
          </a:p>
          <a:p>
            <a:r>
              <a:rPr lang="en-US" dirty="0"/>
              <a:t>Finally, </a:t>
            </a:r>
            <a:r>
              <a:rPr lang="en-US" b="1" dirty="0"/>
              <a:t>Veracity</a:t>
            </a:r>
            <a:r>
              <a:rPr lang="en-US" dirty="0"/>
              <a:t>, or truthfulness. Criminals often lie about their names. By relying on </a:t>
            </a:r>
            <a:r>
              <a:rPr lang="en-US" b="1" dirty="0"/>
              <a:t>Biometrics</a:t>
            </a:r>
            <a:r>
              <a:rPr lang="en-US" dirty="0"/>
              <a:t> rather than just names, we ensure high veracity, correctly identifying the 2,735 repeat offenders despite any aliases they might use."</a:t>
            </a:r>
          </a:p>
          <a:p>
            <a:r>
              <a:rPr lang="en-US" dirty="0"/>
              <a:t>(Sri Lanka Police, 2024; Haidar, 2025; Cavus, 2025)</a:t>
            </a:r>
          </a:p>
        </p:txBody>
      </p:sp>
      <p:sp>
        <p:nvSpPr>
          <p:cNvPr id="4" name="Slide Number Placeholder 3"/>
          <p:cNvSpPr>
            <a:spLocks noGrp="1"/>
          </p:cNvSpPr>
          <p:nvPr>
            <p:ph type="sldNum" sz="quarter" idx="5"/>
          </p:nvPr>
        </p:nvSpPr>
        <p:spPr/>
        <p:txBody>
          <a:bodyPr/>
          <a:lstStyle/>
          <a:p>
            <a:fld id="{B010799E-1A84-4453-A0C6-0CC5DC904209}" type="slidenum">
              <a:rPr lang="en-US" smtClean="0"/>
              <a:t>5</a:t>
            </a:fld>
            <a:endParaRPr lang="en-US"/>
          </a:p>
        </p:txBody>
      </p:sp>
    </p:spTree>
    <p:extLst>
      <p:ext uri="{BB962C8B-B14F-4D97-AF65-F5344CB8AC3E}">
        <p14:creationId xmlns:p14="http://schemas.microsoft.com/office/powerpoint/2010/main" val="431610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illustrates the core transformation we are proposing—moving the Sri Lanka Police up the 'Analytics Maturity Model'.</a:t>
            </a:r>
          </a:p>
          <a:p>
            <a:r>
              <a:rPr lang="en-US" dirty="0"/>
              <a:t>Currently, the organization is stuck at the bottom step: </a:t>
            </a:r>
            <a:r>
              <a:rPr lang="en-US" b="1" dirty="0"/>
              <a:t>Descriptive Analytics</a:t>
            </a:r>
            <a:r>
              <a:rPr lang="en-US" dirty="0"/>
              <a:t>. Systems like CEMS can tell us 'What happened yesterday?' or 'How many robberies occurred last month?'. This is useful for reporting, but it is </a:t>
            </a:r>
            <a:r>
              <a:rPr lang="en-US" b="1" dirty="0"/>
              <a:t>Reactive</a:t>
            </a:r>
            <a:r>
              <a:rPr lang="en-US" dirty="0"/>
              <a:t>. It doesn't help stop the next crime.</a:t>
            </a:r>
          </a:p>
          <a:p>
            <a:r>
              <a:rPr lang="en-US" dirty="0"/>
              <a:t>Our project introduces the middle step: </a:t>
            </a:r>
            <a:r>
              <a:rPr lang="en-US" b="1" dirty="0"/>
              <a:t>Predictive Analytics</a:t>
            </a:r>
            <a:r>
              <a:rPr lang="en-US" dirty="0"/>
              <a:t>. By analyzing historical patterns, we answer the question, 'What will happen?'. Will this specific suspect re-offend? Will this area see a spike in drug crime?.</a:t>
            </a:r>
          </a:p>
          <a:p>
            <a:r>
              <a:rPr lang="en-US" dirty="0"/>
              <a:t>Finally, the ultimate goal is </a:t>
            </a:r>
            <a:r>
              <a:rPr lang="en-US" b="1" dirty="0"/>
              <a:t>Prescriptive Analytics</a:t>
            </a:r>
            <a:r>
              <a:rPr lang="en-US" dirty="0"/>
              <a:t>. This is where the system answers, 'What should we do?'. Instead of just showing a risk score, the dashboard explicitly recommends: </a:t>
            </a:r>
            <a:r>
              <a:rPr lang="en-US" b="1" dirty="0"/>
              <a:t>'Oppose Bail'</a:t>
            </a:r>
            <a:r>
              <a:rPr lang="en-US" dirty="0"/>
              <a:t> or </a:t>
            </a:r>
            <a:r>
              <a:rPr lang="en-US" b="1" dirty="0"/>
              <a:t>'Deploy Patrol Unit'</a:t>
            </a:r>
            <a:r>
              <a:rPr lang="en-US" dirty="0"/>
              <a:t>. This guides the officer's decision-making, ensuring that despite the shortage of 22,000 personnel, every action is data-driven and effective."</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6</a:t>
            </a:fld>
            <a:endParaRPr lang="en-US"/>
          </a:p>
        </p:txBody>
      </p:sp>
    </p:spTree>
    <p:extLst>
      <p:ext uri="{BB962C8B-B14F-4D97-AF65-F5344CB8AC3E}">
        <p14:creationId xmlns:p14="http://schemas.microsoft.com/office/powerpoint/2010/main" val="3010416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visualizes the core technical architecture of our solution. As you can see, it follows a 'Multi-Modal' approach.</a:t>
            </a:r>
          </a:p>
          <a:p>
            <a:r>
              <a:rPr lang="en-US" dirty="0"/>
              <a:t>On the </a:t>
            </a:r>
            <a:r>
              <a:rPr lang="en-US" b="1" dirty="0"/>
              <a:t>Left</a:t>
            </a:r>
            <a:r>
              <a:rPr lang="en-US" dirty="0"/>
              <a:t>, we have our inputs. We don't just rely on the text records in the </a:t>
            </a:r>
            <a:r>
              <a:rPr lang="en-US" b="1" dirty="0"/>
              <a:t>CEMS Database</a:t>
            </a:r>
            <a:r>
              <a:rPr lang="en-US" dirty="0"/>
              <a:t>. We actively integrate </a:t>
            </a:r>
            <a:r>
              <a:rPr lang="en-US" b="1" dirty="0"/>
              <a:t>Unstructured Data</a:t>
            </a:r>
            <a:r>
              <a:rPr lang="en-US" dirty="0"/>
              <a:t> from CCTV and fingerprints , as well as </a:t>
            </a:r>
            <a:r>
              <a:rPr lang="en-US" b="1" dirty="0"/>
              <a:t>Network Data</a:t>
            </a:r>
            <a:r>
              <a:rPr lang="en-US" dirty="0"/>
              <a:t> about family and associates.</a:t>
            </a:r>
          </a:p>
          <a:p>
            <a:endParaRPr lang="en-US" dirty="0"/>
          </a:p>
          <a:p>
            <a:r>
              <a:rPr lang="en-US" dirty="0"/>
              <a:t>In the </a:t>
            </a:r>
            <a:r>
              <a:rPr lang="en-US" b="1" dirty="0"/>
              <a:t>Middle</a:t>
            </a:r>
            <a:r>
              <a:rPr lang="en-US" dirty="0"/>
              <a:t>, the 'Processing Core' uses a hybrid engine. We use a </a:t>
            </a:r>
            <a:r>
              <a:rPr lang="en-US" b="1" dirty="0"/>
              <a:t>CNN (Deep Learning)</a:t>
            </a:r>
            <a:r>
              <a:rPr lang="en-US" dirty="0"/>
              <a:t> model to 'see' the images and extract biometric features. These are then fed into an </a:t>
            </a:r>
            <a:r>
              <a:rPr lang="en-US" b="1" dirty="0" err="1"/>
              <a:t>XGBoost</a:t>
            </a:r>
            <a:r>
              <a:rPr lang="en-US" b="1" dirty="0"/>
              <a:t> Model</a:t>
            </a:r>
            <a:r>
              <a:rPr lang="en-US" dirty="0"/>
              <a:t>, which combines them with the criminal history to calculate a probability.</a:t>
            </a:r>
          </a:p>
          <a:p>
            <a:endParaRPr lang="en-US" dirty="0"/>
          </a:p>
          <a:p>
            <a:r>
              <a:rPr lang="en-US" dirty="0"/>
              <a:t>Finally, on the </a:t>
            </a:r>
            <a:r>
              <a:rPr lang="en-US" b="1" dirty="0"/>
              <a:t>Right</a:t>
            </a:r>
            <a:r>
              <a:rPr lang="en-US" dirty="0"/>
              <a:t>, the intelligence flows to the users. The Station OIC gets a </a:t>
            </a:r>
            <a:r>
              <a:rPr lang="en-US" b="1" dirty="0"/>
              <a:t>Tactical Alert</a:t>
            </a:r>
            <a:r>
              <a:rPr lang="en-US" dirty="0"/>
              <a:t>—'This suspect is High Risk'. Meanwhile, the Headquarters gets a </a:t>
            </a:r>
            <a:r>
              <a:rPr lang="en-US" b="1" dirty="0"/>
              <a:t>Strategic Heatmap</a:t>
            </a:r>
            <a:r>
              <a:rPr lang="en-US" dirty="0"/>
              <a:t> to guide patrol deployments. This architecture ensures the right information reaches the right person at the right time."</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7</a:t>
            </a:fld>
            <a:endParaRPr lang="en-US"/>
          </a:p>
        </p:txBody>
      </p:sp>
    </p:spTree>
    <p:extLst>
      <p:ext uri="{BB962C8B-B14F-4D97-AF65-F5344CB8AC3E}">
        <p14:creationId xmlns:p14="http://schemas.microsoft.com/office/powerpoint/2010/main" val="1493152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cannot discuss AI in criminal justice without addressing the elephant in the room: Ethics.</a:t>
            </a:r>
          </a:p>
          <a:p>
            <a:r>
              <a:rPr lang="en-US" dirty="0"/>
              <a:t>Our first constraint is </a:t>
            </a:r>
            <a:r>
              <a:rPr lang="en-US" b="1" dirty="0"/>
              <a:t>Data Privacy</a:t>
            </a:r>
            <a:r>
              <a:rPr lang="en-US" dirty="0"/>
              <a:t>. We are centralizing sensitive data, so we must enforce strict compliance. We propose </a:t>
            </a:r>
            <a:r>
              <a:rPr lang="en-US" b="1" dirty="0"/>
              <a:t>Role-Based Access Control (RBAC)</a:t>
            </a:r>
            <a:r>
              <a:rPr lang="en-US" dirty="0"/>
              <a:t>, ensuring that a junior officer cannot just browse the database—they only see what they </a:t>
            </a:r>
            <a:r>
              <a:rPr lang="en-US" i="1" dirty="0"/>
              <a:t>need</a:t>
            </a:r>
            <a:r>
              <a:rPr lang="en-US" dirty="0"/>
              <a:t> to see for their specific case.</a:t>
            </a:r>
          </a:p>
          <a:p>
            <a:r>
              <a:rPr lang="en-US" dirty="0"/>
              <a:t>The second major risk is </a:t>
            </a:r>
            <a:r>
              <a:rPr lang="en-US" b="1" dirty="0"/>
              <a:t>Algorithmic Bias</a:t>
            </a:r>
            <a:r>
              <a:rPr lang="en-US" dirty="0"/>
              <a:t>. AI learns from history. If our historical data contains bias—for example, if certain neighborhoods were over-policed—the model might unfairly target individuals from those areas. This creates a 'Self-Fulfilling Prophecy'.</a:t>
            </a:r>
          </a:p>
          <a:p>
            <a:r>
              <a:rPr lang="en-US" dirty="0"/>
              <a:t>To solve this, we implemented a strict </a:t>
            </a:r>
            <a:r>
              <a:rPr lang="en-US" b="1" dirty="0"/>
              <a:t>'Human-in-the-Loop'</a:t>
            </a:r>
            <a:r>
              <a:rPr lang="en-US" dirty="0"/>
              <a:t> policy. The AI does </a:t>
            </a:r>
            <a:r>
              <a:rPr lang="en-US" i="1" dirty="0"/>
              <a:t>not</a:t>
            </a:r>
            <a:r>
              <a:rPr lang="en-US" dirty="0"/>
              <a:t> make the final call. It provides a Risk Score as a supporting piece of evidence, similar to a witness statement. The police officer and the judge remain the final decision-makers, ensuring that technology serves justice, rather than replacing it."</a:t>
            </a:r>
          </a:p>
          <a:p>
            <a:br>
              <a:rPr lang="en-US" dirty="0"/>
            </a:br>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8</a:t>
            </a:fld>
            <a:endParaRPr lang="en-US"/>
          </a:p>
        </p:txBody>
      </p:sp>
    </p:spTree>
    <p:extLst>
      <p:ext uri="{BB962C8B-B14F-4D97-AF65-F5344CB8AC3E}">
        <p14:creationId xmlns:p14="http://schemas.microsoft.com/office/powerpoint/2010/main" val="1999467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move to the core of the analytical solution: the data itself.</a:t>
            </a:r>
          </a:p>
          <a:p>
            <a:r>
              <a:rPr lang="en-US" dirty="0"/>
              <a:t>The biggest challenge in criminal justice research is access. Real police data is classified, and for good reason—it contains sensitive personal information.</a:t>
            </a:r>
          </a:p>
          <a:p>
            <a:r>
              <a:rPr lang="en-US" dirty="0"/>
              <a:t>To overcome this, I developed a </a:t>
            </a:r>
            <a:r>
              <a:rPr lang="en-US" b="1" dirty="0"/>
              <a:t>High-Fidelity Synthetic Dataset</a:t>
            </a:r>
            <a:r>
              <a:rPr lang="en-US" dirty="0"/>
              <a:t> of 1,000 records. I didn't just create random numbers; I simulated the exact three data streams that exist in the Sri Lanka Police today.</a:t>
            </a:r>
          </a:p>
          <a:p>
            <a:r>
              <a:rPr lang="en-US" dirty="0"/>
              <a:t>First, I simulated the </a:t>
            </a:r>
            <a:r>
              <a:rPr lang="en-US" b="1" dirty="0"/>
              <a:t>CEMS database</a:t>
            </a:r>
            <a:r>
              <a:rPr lang="en-US" dirty="0"/>
              <a:t>, which holds text data like age and past convictions. Second, I simulated the </a:t>
            </a:r>
            <a:r>
              <a:rPr lang="en-US" b="1" dirty="0"/>
              <a:t>AFIS and CCTV feeds</a:t>
            </a:r>
            <a:r>
              <a:rPr lang="en-US" dirty="0"/>
              <a:t>. Crucially, I generated 'Biometric Hashes' and 'Gait Risk Scores' to represent what a sophisticated AI vision system would actually output. Third, I simulated the </a:t>
            </a:r>
            <a:r>
              <a:rPr lang="en-US" b="1" dirty="0"/>
              <a:t>National Registry</a:t>
            </a:r>
            <a:r>
              <a:rPr lang="en-US" dirty="0"/>
              <a:t> with explicit 'Linked IDs'. This allows us to map criminal networks and see who is connected to whom—essentially building a social graph of crime.</a:t>
            </a:r>
          </a:p>
          <a:p>
            <a:r>
              <a:rPr lang="en-US" dirty="0"/>
              <a:t>This approach allowed me to build and test the </a:t>
            </a:r>
            <a:r>
              <a:rPr lang="en-US" i="1" dirty="0"/>
              <a:t>architecture</a:t>
            </a:r>
            <a:r>
              <a:rPr lang="en-US" dirty="0"/>
              <a:t> of the solution without violating any data privacy laws."</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9</a:t>
            </a:fld>
            <a:endParaRPr lang="en-US"/>
          </a:p>
        </p:txBody>
      </p:sp>
    </p:spTree>
    <p:extLst>
      <p:ext uri="{BB962C8B-B14F-4D97-AF65-F5344CB8AC3E}">
        <p14:creationId xmlns:p14="http://schemas.microsoft.com/office/powerpoint/2010/main" val="3754628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Slide 10, we look at </a:t>
            </a:r>
            <a:r>
              <a:rPr lang="en-US" b="1" dirty="0"/>
              <a:t>Data Pre-processing</a:t>
            </a:r>
            <a:r>
              <a:rPr lang="en-US" dirty="0"/>
              <a:t>. Before we can train an AI, we must first build a clean, 'Human-Readable' dataset.</a:t>
            </a:r>
          </a:p>
          <a:p>
            <a:r>
              <a:rPr lang="en-US" dirty="0"/>
              <a:t>The table you see here is our </a:t>
            </a:r>
            <a:r>
              <a:rPr lang="en-US" b="1" dirty="0"/>
              <a:t>'Master Analytical Dataset'</a:t>
            </a:r>
            <a:r>
              <a:rPr lang="en-US" dirty="0"/>
              <a:t>. It represents the single version of truth, merging the CEMS demographics, the Biometric Hashes from the fingerprint scanner, and the Network data.</a:t>
            </a:r>
          </a:p>
          <a:p>
            <a:r>
              <a:rPr lang="en-US" dirty="0"/>
              <a:t>I want to draw your attention to the </a:t>
            </a:r>
            <a:r>
              <a:rPr lang="en-US" b="1" dirty="0"/>
              <a:t>Feature Engineering</a:t>
            </a:r>
            <a:r>
              <a:rPr lang="en-US" dirty="0"/>
              <a:t> we performed. If you look at the </a:t>
            </a:r>
            <a:r>
              <a:rPr lang="en-US" sz="1200" b="1" kern="1200" dirty="0" err="1">
                <a:solidFill>
                  <a:schemeClr val="tx1"/>
                </a:solidFill>
                <a:latin typeface="+mn-lt"/>
                <a:ea typeface="+mn-ea"/>
                <a:cs typeface="+mn-cs"/>
              </a:rPr>
              <a:t>Network_Size</a:t>
            </a:r>
            <a:r>
              <a:rPr lang="en-US" dirty="0"/>
              <a:t> column, we didn't just feed the AI a raw list of names. We calculated a </a:t>
            </a:r>
            <a:r>
              <a:rPr lang="en-US" i="1" dirty="0"/>
              <a:t>score</a:t>
            </a:r>
            <a:r>
              <a:rPr lang="en-US" dirty="0"/>
              <a:t>—counting how many criminal associates a suspect has. This converts qualitative text into a quantitative risk factor that the model can understand.</a:t>
            </a:r>
          </a:p>
          <a:p>
            <a:r>
              <a:rPr lang="en-US" dirty="0"/>
              <a:t>We also performed rigorous </a:t>
            </a:r>
            <a:r>
              <a:rPr lang="en-US" b="1" dirty="0"/>
              <a:t>Data Cleaning</a:t>
            </a:r>
            <a:r>
              <a:rPr lang="en-US" dirty="0"/>
              <a:t>. For example, we standardized the 'Employment' and 'Address' fields to ensure that missing data wouldn't cause the model to crash. This table is now the 'Gold Standard' source for our analysis."</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10</a:t>
            </a:fld>
            <a:endParaRPr lang="en-US"/>
          </a:p>
        </p:txBody>
      </p:sp>
    </p:spTree>
    <p:extLst>
      <p:ext uri="{BB962C8B-B14F-4D97-AF65-F5344CB8AC3E}">
        <p14:creationId xmlns:p14="http://schemas.microsoft.com/office/powerpoint/2010/main" val="9569227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shift to the </a:t>
            </a:r>
            <a:r>
              <a:rPr lang="en-US" b="1" dirty="0"/>
              <a:t>'Machine View'</a:t>
            </a:r>
            <a:r>
              <a:rPr lang="en-US" dirty="0"/>
              <a:t> of the data.</a:t>
            </a:r>
          </a:p>
          <a:p>
            <a:r>
              <a:rPr lang="en-US" dirty="0"/>
              <a:t>The </a:t>
            </a:r>
            <a:r>
              <a:rPr lang="en-US" dirty="0" err="1"/>
              <a:t>XGBoost</a:t>
            </a:r>
            <a:r>
              <a:rPr lang="en-US" dirty="0"/>
              <a:t> algorithm requires a mathematical format. It cannot accept raw text strings like 'Theft' or names like 'Kamal Perera.'</a:t>
            </a:r>
          </a:p>
          <a:p>
            <a:r>
              <a:rPr lang="en-US" dirty="0"/>
              <a:t>To solve this, we applied </a:t>
            </a:r>
            <a:r>
              <a:rPr lang="en-US" b="1" dirty="0"/>
              <a:t>Boolean One-Hot Encoding</a:t>
            </a:r>
            <a:r>
              <a:rPr lang="en-US" dirty="0"/>
              <a:t>. As you can see in the screenshot, the text categories have been converted into </a:t>
            </a:r>
            <a:r>
              <a:rPr lang="en-US" sz="1200" kern="1200" dirty="0">
                <a:solidFill>
                  <a:schemeClr val="tx1"/>
                </a:solidFill>
                <a:latin typeface="+mn-lt"/>
                <a:ea typeface="+mn-ea"/>
                <a:cs typeface="+mn-cs"/>
              </a:rPr>
              <a:t>True</a:t>
            </a:r>
            <a:r>
              <a:rPr lang="en-US" dirty="0"/>
              <a:t> and </a:t>
            </a:r>
            <a:r>
              <a:rPr lang="en-US" sz="1200" kern="1200" dirty="0">
                <a:solidFill>
                  <a:schemeClr val="tx1"/>
                </a:solidFill>
                <a:latin typeface="+mn-lt"/>
                <a:ea typeface="+mn-ea"/>
                <a:cs typeface="+mn-cs"/>
              </a:rPr>
              <a:t>False</a:t>
            </a:r>
            <a:r>
              <a:rPr lang="en-US" dirty="0"/>
              <a:t> values. The model interprets these as binary signals.</a:t>
            </a:r>
          </a:p>
          <a:p>
            <a:r>
              <a:rPr lang="en-US" dirty="0"/>
              <a:t>We specifically used a technique called </a:t>
            </a:r>
            <a:r>
              <a:rPr lang="en-US" b="1" dirty="0"/>
              <a:t>'Drop First' Encoding</a:t>
            </a:r>
            <a:r>
              <a:rPr lang="en-US" dirty="0"/>
              <a:t>. This reduces redundancy. For example, we don't need a column for '</a:t>
            </a:r>
            <a:r>
              <a:rPr lang="en-US" dirty="0" err="1"/>
              <a:t>Gender_Female</a:t>
            </a:r>
            <a:r>
              <a:rPr lang="en-US" dirty="0"/>
              <a:t>' because if '</a:t>
            </a:r>
            <a:r>
              <a:rPr lang="en-US" dirty="0" err="1"/>
              <a:t>Gender_Male</a:t>
            </a:r>
            <a:r>
              <a:rPr lang="en-US" dirty="0"/>
              <a:t>' is False, the model implicitly knows they are Female. This streamlined our dataset to exactly </a:t>
            </a:r>
            <a:r>
              <a:rPr lang="en-US" b="1" dirty="0"/>
              <a:t>19 engineered features</a:t>
            </a:r>
            <a:r>
              <a:rPr lang="en-US" dirty="0"/>
              <a:t>."</a:t>
            </a:r>
          </a:p>
        </p:txBody>
      </p:sp>
      <p:sp>
        <p:nvSpPr>
          <p:cNvPr id="4" name="Slide Number Placeholder 3"/>
          <p:cNvSpPr>
            <a:spLocks noGrp="1"/>
          </p:cNvSpPr>
          <p:nvPr>
            <p:ph type="sldNum" sz="quarter" idx="5"/>
          </p:nvPr>
        </p:nvSpPr>
        <p:spPr/>
        <p:txBody>
          <a:bodyPr/>
          <a:lstStyle/>
          <a:p>
            <a:fld id="{B010799E-1A84-4453-A0C6-0CC5DC904209}" type="slidenum">
              <a:rPr lang="en-US" smtClean="0"/>
              <a:t>12</a:t>
            </a:fld>
            <a:endParaRPr lang="en-US"/>
          </a:p>
        </p:txBody>
      </p:sp>
    </p:spTree>
    <p:extLst>
      <p:ext uri="{BB962C8B-B14F-4D97-AF65-F5344CB8AC3E}">
        <p14:creationId xmlns:p14="http://schemas.microsoft.com/office/powerpoint/2010/main" val="18657605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Slide 14, we address our </a:t>
            </a:r>
            <a:r>
              <a:rPr lang="en-US" b="1" dirty="0"/>
              <a:t>Model Selection Strategy</a:t>
            </a:r>
            <a:r>
              <a:rPr lang="en-US" dirty="0"/>
              <a:t>.</a:t>
            </a:r>
          </a:p>
          <a:p>
            <a:r>
              <a:rPr lang="en-US" dirty="0"/>
              <a:t>We initially considered </a:t>
            </a:r>
            <a:r>
              <a:rPr lang="en-US" b="1" dirty="0"/>
              <a:t>Logistic Regression</a:t>
            </a:r>
            <a:r>
              <a:rPr lang="en-US" dirty="0"/>
              <a:t>, which is the standard statistical baseline. However, we rejected it for two critical reasons backed by current research.</a:t>
            </a:r>
          </a:p>
          <a:p>
            <a:r>
              <a:rPr lang="en-US" dirty="0"/>
              <a:t>First is the </a:t>
            </a:r>
            <a:r>
              <a:rPr lang="en-US" b="1" dirty="0"/>
              <a:t>'Class Imbalance Problem'</a:t>
            </a:r>
            <a:r>
              <a:rPr lang="en-US" dirty="0"/>
              <a:t>. In any police dataset, actual criminals are the minority. A simple regression model tends to be lazy—it predicts 'Innocent' for everyone and still gets 90% accuracy, but it misses the criminals. </a:t>
            </a:r>
            <a:r>
              <a:rPr lang="en-US" b="1" dirty="0"/>
              <a:t>Chen and Hou (2025)</a:t>
            </a:r>
            <a:r>
              <a:rPr lang="en-US" dirty="0"/>
              <a:t> specifically highlight this in their recent work on recidivism, proving that we need advanced 'Imbalanced Learning Methods' to catch that minority class.</a:t>
            </a:r>
          </a:p>
          <a:p>
            <a:r>
              <a:rPr lang="en-US" dirty="0"/>
              <a:t>Second is </a:t>
            </a:r>
            <a:r>
              <a:rPr lang="en-US" b="1" dirty="0"/>
              <a:t>Complexity</a:t>
            </a:r>
            <a:r>
              <a:rPr lang="en-US" dirty="0"/>
              <a:t>. We aren't just looking at age; we are combining 'Network Graphs' with 'Biometric Scores'. These are non-linear relationships. </a:t>
            </a:r>
            <a:r>
              <a:rPr lang="en-US" b="1" dirty="0" err="1"/>
              <a:t>Huamantingo</a:t>
            </a:r>
            <a:r>
              <a:rPr lang="en-US" b="1" dirty="0"/>
              <a:t> et al. (2025)</a:t>
            </a:r>
            <a:r>
              <a:rPr lang="en-US" dirty="0"/>
              <a:t> note that to close the gap between research and real-world implementation, we need models capable of handling this high-dimensional complexity.</a:t>
            </a:r>
          </a:p>
          <a:p>
            <a:r>
              <a:rPr lang="en-US" dirty="0"/>
              <a:t>Therefore, we chose </a:t>
            </a:r>
            <a:r>
              <a:rPr lang="en-US" b="1" dirty="0" err="1"/>
              <a:t>XGBoost</a:t>
            </a:r>
            <a:r>
              <a:rPr lang="en-US" dirty="0"/>
              <a:t>. It uses 'Gradient Boosting' to build hundreds of small decision trees that correct each other's mistakes, specifically targeting those hard-to-find recidivists that a simple regression line would miss."</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14</a:t>
            </a:fld>
            <a:endParaRPr lang="en-US"/>
          </a:p>
        </p:txBody>
      </p:sp>
    </p:spTree>
    <p:extLst>
      <p:ext uri="{BB962C8B-B14F-4D97-AF65-F5344CB8AC3E}">
        <p14:creationId xmlns:p14="http://schemas.microsoft.com/office/powerpoint/2010/main" val="41227536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Slide 15, we outline our </a:t>
            </a:r>
            <a:r>
              <a:rPr lang="en-US" b="1" dirty="0"/>
              <a:t>Experimental Setup</a:t>
            </a:r>
            <a:r>
              <a:rPr lang="en-US" dirty="0"/>
              <a:t>.</a:t>
            </a:r>
          </a:p>
          <a:p>
            <a:r>
              <a:rPr lang="en-US" dirty="0"/>
              <a:t>We implemented this solution using </a:t>
            </a:r>
            <a:r>
              <a:rPr lang="en-US" b="1" dirty="0"/>
              <a:t>Python</a:t>
            </a:r>
            <a:r>
              <a:rPr lang="en-US" dirty="0"/>
              <a:t> on the </a:t>
            </a:r>
            <a:r>
              <a:rPr lang="en-US" b="1" dirty="0"/>
              <a:t>Google </a:t>
            </a:r>
            <a:r>
              <a:rPr lang="en-US" b="1" dirty="0" err="1"/>
              <a:t>Colab</a:t>
            </a:r>
            <a:r>
              <a:rPr lang="en-US" dirty="0"/>
              <a:t> platform, leveraging standard industry libraries like Pandas and Scikit-Learn. This ensures the solution is reproducible and scalable.</a:t>
            </a:r>
          </a:p>
          <a:p>
            <a:r>
              <a:rPr lang="en-US" dirty="0"/>
              <a:t>To ensure our results are honest, we adhered to a strict </a:t>
            </a:r>
            <a:r>
              <a:rPr lang="en-US" b="1" dirty="0"/>
              <a:t>70/30 Data Split</a:t>
            </a:r>
            <a:r>
              <a:rPr lang="en-US" dirty="0"/>
              <a:t>. We used 70% of the data to train the model, but we hid the remaining 30%. This 'Testing Set' acts as a proxy for the real world—the model has never seen these suspects before. If it performs well here, we know it's not just memorizing the answers.</a:t>
            </a:r>
          </a:p>
          <a:p>
            <a:r>
              <a:rPr lang="en-US" dirty="0"/>
              <a:t>Finally, we had to address the </a:t>
            </a:r>
            <a:r>
              <a:rPr lang="en-US" b="1" dirty="0"/>
              <a:t>'Rare Event' Challenge</a:t>
            </a:r>
            <a:r>
              <a:rPr lang="en-US" dirty="0"/>
              <a:t>. In policing, actual criminals are the minority. Finding them is like finding a needle in a haystack. A bad model would just guess 'Innocent' every time and still be 80% accurate. As referenced by </a:t>
            </a:r>
            <a:r>
              <a:rPr lang="en-US" b="1" dirty="0"/>
              <a:t>Chen &amp; Hou (2025)</a:t>
            </a:r>
            <a:r>
              <a:rPr lang="en-US" dirty="0"/>
              <a:t>, this 'Class Imbalance' is the primary reason standard regression fails. Our setup specifically configures </a:t>
            </a:r>
            <a:r>
              <a:rPr lang="en-US" dirty="0" err="1"/>
              <a:t>XGBoost</a:t>
            </a:r>
            <a:r>
              <a:rPr lang="en-US" dirty="0"/>
              <a:t> to hunt for these rare, high-risk signals rather than ignoring them."</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15</a:t>
            </a:fld>
            <a:endParaRPr lang="en-US"/>
          </a:p>
        </p:txBody>
      </p:sp>
    </p:spTree>
    <p:extLst>
      <p:ext uri="{BB962C8B-B14F-4D97-AF65-F5344CB8AC3E}">
        <p14:creationId xmlns:p14="http://schemas.microsoft.com/office/powerpoint/2010/main" val="17843925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can see from the table, our </a:t>
            </a:r>
            <a:r>
              <a:rPr lang="en-US" dirty="0" err="1"/>
              <a:t>XGBoost</a:t>
            </a:r>
            <a:r>
              <a:rPr lang="en-US" dirty="0"/>
              <a:t> model achieved an </a:t>
            </a:r>
            <a:r>
              <a:rPr lang="en-US" b="1" dirty="0"/>
              <a:t>Overall Accuracy of 94%</a:t>
            </a:r>
            <a:r>
              <a:rPr lang="en-US" dirty="0"/>
              <a:t>. This is a significant success, proving that our synthetic data—specifically the Network Size and Biometric Scores—contains strong predictive patterns.</a:t>
            </a:r>
          </a:p>
          <a:p>
            <a:r>
              <a:rPr lang="en-US" dirty="0"/>
              <a:t>I want to highlight the results for </a:t>
            </a:r>
            <a:r>
              <a:rPr lang="en-US" b="1" dirty="0"/>
              <a:t>'Class 1'</a:t>
            </a:r>
            <a:r>
              <a:rPr lang="en-US" dirty="0"/>
              <a:t>, which represents the Recidivists. Often in AI, there is a trade-off: you either catch all the criminals but accuse innocent people (High Recall, Low Precision), or you play it safe and miss the criminals (High Precision, Low Recall).</a:t>
            </a:r>
          </a:p>
          <a:p>
            <a:r>
              <a:rPr lang="en-US" dirty="0"/>
              <a:t>However, our model achieved a </a:t>
            </a:r>
            <a:r>
              <a:rPr lang="en-US" b="1" dirty="0"/>
              <a:t>Balance</a:t>
            </a:r>
            <a:r>
              <a:rPr lang="en-US" dirty="0"/>
              <a:t>. We have a </a:t>
            </a:r>
            <a:r>
              <a:rPr lang="en-US" b="1" dirty="0"/>
              <a:t>Recall of 0.84</a:t>
            </a:r>
            <a:r>
              <a:rPr lang="en-US" dirty="0"/>
              <a:t>, meaning we identified 84% of the dangerous individuals. Simultaneously, we have a </a:t>
            </a:r>
            <a:r>
              <a:rPr lang="en-US" b="1" dirty="0"/>
              <a:t>Precision of 0.84</a:t>
            </a:r>
            <a:r>
              <a:rPr lang="en-US" dirty="0"/>
              <a:t>, meaning that when we flag someone, we are highly confident they are actually high-risk.</a:t>
            </a:r>
          </a:p>
          <a:p>
            <a:r>
              <a:rPr lang="en-US" dirty="0"/>
              <a:t>This balance is critical for a police system—it ensures we are effective at fighting crime without violating the rights of innocent citizens."</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16</a:t>
            </a:fld>
            <a:endParaRPr lang="en-US"/>
          </a:p>
        </p:txBody>
      </p:sp>
    </p:spTree>
    <p:extLst>
      <p:ext uri="{BB962C8B-B14F-4D97-AF65-F5344CB8AC3E}">
        <p14:creationId xmlns:p14="http://schemas.microsoft.com/office/powerpoint/2010/main" val="1839574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presents the </a:t>
            </a:r>
            <a:r>
              <a:rPr lang="en-US" b="1" dirty="0"/>
              <a:t>Confusion Matrix</a:t>
            </a:r>
            <a:r>
              <a:rPr lang="en-US" dirty="0"/>
              <a:t>, which allows us to see exactly </a:t>
            </a:r>
            <a:r>
              <a:rPr lang="en-US" i="1" dirty="0"/>
              <a:t>where</a:t>
            </a:r>
            <a:r>
              <a:rPr lang="en-US" dirty="0"/>
              <a:t> the model makes mistakes.</a:t>
            </a:r>
          </a:p>
          <a:p>
            <a:r>
              <a:rPr lang="en-US" dirty="0"/>
              <a:t>In criminal justice, not all errors are equal.</a:t>
            </a:r>
          </a:p>
          <a:p>
            <a:r>
              <a:rPr lang="en-US" dirty="0"/>
              <a:t>If you look at the bottom-left quadrant, you see our </a:t>
            </a:r>
            <a:r>
              <a:rPr lang="en-US" b="1" dirty="0"/>
              <a:t>False Negatives</a:t>
            </a:r>
            <a:r>
              <a:rPr lang="en-US" dirty="0"/>
              <a:t>. These are the </a:t>
            </a:r>
            <a:r>
              <a:rPr lang="en-US" b="1" dirty="0"/>
              <a:t>9 criminals</a:t>
            </a:r>
            <a:r>
              <a:rPr lang="en-US" dirty="0"/>
              <a:t> that the model missed. In the context of the </a:t>
            </a:r>
            <a:r>
              <a:rPr lang="en-US" i="1" dirty="0"/>
              <a:t>Sri Lanka Police Annual Report (2024)</a:t>
            </a:r>
            <a:r>
              <a:rPr lang="en-US" dirty="0"/>
              <a:t>, preventing crimes is the priority. These 9 individuals represent a public safety risk because they might be released on bail.</a:t>
            </a:r>
          </a:p>
          <a:p>
            <a:r>
              <a:rPr lang="en-US" dirty="0"/>
              <a:t>Conversely, looking at the top-right, we have </a:t>
            </a:r>
            <a:r>
              <a:rPr lang="en-US" b="1" dirty="0"/>
              <a:t>9 False Positives</a:t>
            </a:r>
            <a:r>
              <a:rPr lang="en-US" dirty="0"/>
              <a:t>. These are innocent people flagged as criminals. While 9 is a low number, each one represents a potential violation of civil rights.</a:t>
            </a:r>
          </a:p>
          <a:p>
            <a:r>
              <a:rPr lang="en-US" dirty="0"/>
              <a:t>This slide is the strongest argument for a </a:t>
            </a:r>
            <a:r>
              <a:rPr lang="en-US" b="1" dirty="0"/>
              <a:t>'Human-in-the-Loop'</a:t>
            </a:r>
            <a:r>
              <a:rPr lang="en-US" dirty="0"/>
              <a:t> system. While 94% accuracy is excellent, the remaining errors prove that AI should never automatically sentence someone; it should only alert the officer to investigate further."</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17</a:t>
            </a:fld>
            <a:endParaRPr lang="en-US"/>
          </a:p>
        </p:txBody>
      </p:sp>
    </p:spTree>
    <p:extLst>
      <p:ext uri="{BB962C8B-B14F-4D97-AF65-F5344CB8AC3E}">
        <p14:creationId xmlns:p14="http://schemas.microsoft.com/office/powerpoint/2010/main" val="511010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presents the </a:t>
            </a:r>
            <a:r>
              <a:rPr lang="en-US" b="1" dirty="0"/>
              <a:t>ROC Curve</a:t>
            </a:r>
            <a:r>
              <a:rPr lang="en-US" dirty="0"/>
              <a:t>, which is the standard measure of a model's discriminative ability.</a:t>
            </a:r>
          </a:p>
          <a:p>
            <a:r>
              <a:rPr lang="en-US" dirty="0"/>
              <a:t>In our pilot phase, we hypothesized an AUC of around 0.5 or 0.6. However, looking at the orange line in the graph, you can see it rises sharply to the top-left corner. This is exactly what we want to see.</a:t>
            </a:r>
          </a:p>
          <a:p>
            <a:r>
              <a:rPr lang="en-US" dirty="0"/>
              <a:t>We achieved an </a:t>
            </a:r>
            <a:r>
              <a:rPr lang="en-US" b="1" dirty="0"/>
              <a:t>AUC Score of 0.98</a:t>
            </a:r>
            <a:r>
              <a:rPr lang="en-US" dirty="0"/>
              <a:t>.</a:t>
            </a:r>
          </a:p>
          <a:p>
            <a:r>
              <a:rPr lang="en-US" dirty="0"/>
              <a:t>To put this in context, an AUC of 0.5 is like flipping a coin—random guessing. An AUC of 1.0 is a perfect oracle. Scoring </a:t>
            </a:r>
            <a:r>
              <a:rPr lang="en-US" b="1" dirty="0"/>
              <a:t>0.98</a:t>
            </a:r>
            <a:r>
              <a:rPr lang="en-US" dirty="0"/>
              <a:t> means our model is exceptionally good at separating the 'High Risk' suspects from the 'Low Risk' ones.</a:t>
            </a:r>
          </a:p>
          <a:p>
            <a:r>
              <a:rPr lang="en-US" dirty="0"/>
              <a:t>This high score effectively validates our Feature Engineering strategy. It proves that combining </a:t>
            </a:r>
            <a:r>
              <a:rPr lang="en-US" b="1" dirty="0"/>
              <a:t>Gait Analysis</a:t>
            </a:r>
            <a:r>
              <a:rPr lang="en-US" dirty="0"/>
              <a:t> with </a:t>
            </a:r>
            <a:r>
              <a:rPr lang="en-US" b="1" dirty="0"/>
              <a:t>Criminal Network Size</a:t>
            </a:r>
            <a:r>
              <a:rPr lang="en-US" dirty="0"/>
              <a:t> creates a very powerful signal that separates criminals from the general population."</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18</a:t>
            </a:fld>
            <a:endParaRPr lang="en-US"/>
          </a:p>
        </p:txBody>
      </p:sp>
    </p:spTree>
    <p:extLst>
      <p:ext uri="{BB962C8B-B14F-4D97-AF65-F5344CB8AC3E}">
        <p14:creationId xmlns:p14="http://schemas.microsoft.com/office/powerpoint/2010/main" val="24922796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Slide 19, we answer the most important question in AI: </a:t>
            </a:r>
            <a:r>
              <a:rPr lang="en-US" i="1" dirty="0"/>
              <a:t>Why</a:t>
            </a:r>
            <a:r>
              <a:rPr lang="en-US" dirty="0"/>
              <a:t> did the model make these decisions? This is called </a:t>
            </a:r>
            <a:r>
              <a:rPr lang="en-US" b="1" dirty="0"/>
              <a:t>Explainable AI</a:t>
            </a:r>
            <a:r>
              <a:rPr lang="en-US" dirty="0"/>
              <a:t>.</a:t>
            </a:r>
          </a:p>
          <a:p>
            <a:r>
              <a:rPr lang="en-US" dirty="0"/>
              <a:t>If you look at the graph, the results are striking.</a:t>
            </a:r>
          </a:p>
          <a:p>
            <a:r>
              <a:rPr lang="en-US" dirty="0"/>
              <a:t>The purple bar at the top represents the </a:t>
            </a:r>
            <a:r>
              <a:rPr lang="en-US" b="1" dirty="0"/>
              <a:t>CCTV Gait Risk Score</a:t>
            </a:r>
            <a:r>
              <a:rPr lang="en-US" dirty="0"/>
              <a:t>. It accounts for </a:t>
            </a:r>
            <a:r>
              <a:rPr lang="en-US" b="1" dirty="0"/>
              <a:t>77.1%</a:t>
            </a:r>
            <a:r>
              <a:rPr lang="en-US" dirty="0"/>
              <a:t> of the model's decision-making process. This validates our entire project thesis: that real-time behavioral biometrics are the most powerful tool we have for predicting crime.</a:t>
            </a:r>
          </a:p>
          <a:p>
            <a:r>
              <a:rPr lang="en-US" dirty="0"/>
              <a:t>The second most important factor is </a:t>
            </a:r>
            <a:r>
              <a:rPr lang="en-US" b="1" dirty="0"/>
              <a:t>Network Size</a:t>
            </a:r>
            <a:r>
              <a:rPr lang="en-US" dirty="0"/>
              <a:t> at </a:t>
            </a:r>
            <a:r>
              <a:rPr lang="en-US" b="1" dirty="0"/>
              <a:t>13.9%</a:t>
            </a:r>
            <a:r>
              <a:rPr lang="en-US" dirty="0"/>
              <a:t>. This confirms that criminal associations are a critical risk factor.</a:t>
            </a:r>
          </a:p>
          <a:p>
            <a:r>
              <a:rPr lang="en-US" dirty="0"/>
              <a:t>But look at what is </a:t>
            </a:r>
            <a:r>
              <a:rPr lang="en-US" i="1" dirty="0"/>
              <a:t>not</a:t>
            </a:r>
            <a:r>
              <a:rPr lang="en-US" dirty="0"/>
              <a:t> important. Look at the bottom of the list. </a:t>
            </a:r>
            <a:r>
              <a:rPr lang="en-US" b="1" dirty="0"/>
              <a:t>Age, Gender, and Marital Status</a:t>
            </a:r>
            <a:r>
              <a:rPr lang="en-US" dirty="0"/>
              <a:t> have less than </a:t>
            </a:r>
            <a:r>
              <a:rPr lang="en-US" b="1" dirty="0"/>
              <a:t>1% impact</a:t>
            </a:r>
            <a:r>
              <a:rPr lang="en-US" dirty="0"/>
              <a:t> combined.</a:t>
            </a:r>
          </a:p>
          <a:p>
            <a:r>
              <a:rPr lang="en-US" dirty="0"/>
              <a:t>This is a massive victory for </a:t>
            </a:r>
            <a:r>
              <a:rPr lang="en-US" b="1" dirty="0"/>
              <a:t>Ethical AI</a:t>
            </a:r>
            <a:r>
              <a:rPr lang="en-US" dirty="0"/>
              <a:t>. It means our model isn't profiling people based on whether they are male or female, or married or single. It is judging them based on objective risks: their behavioral anomalies and their criminal connections. It proves that a 'Multi-Modal' system is not just more accurate, but potentially fairer than human intuition."</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19</a:t>
            </a:fld>
            <a:endParaRPr lang="en-US"/>
          </a:p>
        </p:txBody>
      </p:sp>
    </p:spTree>
    <p:extLst>
      <p:ext uri="{BB962C8B-B14F-4D97-AF65-F5344CB8AC3E}">
        <p14:creationId xmlns:p14="http://schemas.microsoft.com/office/powerpoint/2010/main" val="1890022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Slide 17, we perform a </a:t>
            </a:r>
            <a:r>
              <a:rPr lang="en-US" b="1" dirty="0"/>
              <a:t>Critical Evaluation</a:t>
            </a:r>
            <a:r>
              <a:rPr lang="en-US" dirty="0"/>
              <a:t> of our own work. No model is perfect, and honest criticism is part of the scientific method.</a:t>
            </a:r>
          </a:p>
          <a:p>
            <a:r>
              <a:rPr lang="en-US" dirty="0"/>
              <a:t>First, the </a:t>
            </a:r>
            <a:r>
              <a:rPr lang="en-US" b="1" dirty="0"/>
              <a:t>Strengths</a:t>
            </a:r>
            <a:r>
              <a:rPr lang="en-US" dirty="0"/>
              <a:t>. We successfully demonstrated that integrating 'Biometrics' with 'Network Analysis' works. It creates a much richer picture of a suspect than demographics alone.</a:t>
            </a:r>
          </a:p>
          <a:p>
            <a:r>
              <a:rPr lang="en-US" dirty="0"/>
              <a:t>However, we must acknowledge the </a:t>
            </a:r>
            <a:r>
              <a:rPr lang="en-US" b="1" dirty="0"/>
              <a:t>Weaknesses</a:t>
            </a:r>
            <a:r>
              <a:rPr lang="en-US" dirty="0"/>
              <a:t>. Our dataset was synthetic. In the real world, police data is messy—it has 'noise' and missing values. Furthermore, we faced the 'Class Imbalance' problem. In a real deployment, we would need to use advanced techniques like </a:t>
            </a:r>
            <a:r>
              <a:rPr lang="en-US" b="1" dirty="0"/>
              <a:t>SMOTE</a:t>
            </a:r>
            <a:r>
              <a:rPr lang="en-US" dirty="0"/>
              <a:t> to artificially boost the number of 'Criminal' examples so the model doesn't get lazy and just predict 'Innocent' for everyone.</a:t>
            </a:r>
          </a:p>
          <a:p>
            <a:r>
              <a:rPr lang="en-US" dirty="0"/>
              <a:t>Finally, and most importantly, we must discuss the </a:t>
            </a:r>
            <a:r>
              <a:rPr lang="en-US" b="1" dirty="0"/>
              <a:t>Ethical Risk</a:t>
            </a:r>
            <a:r>
              <a:rPr lang="en-US" dirty="0"/>
              <a:t>. We used 'Family History' as a predictor. While mathematically accurate, this is ethically dangerous. It introduces </a:t>
            </a:r>
            <a:r>
              <a:rPr lang="en-US" b="1" dirty="0"/>
              <a:t>'Guilt by Association.'</a:t>
            </a:r>
            <a:r>
              <a:rPr lang="en-US" dirty="0"/>
              <a:t> If we deny someone bail just because their brother is a criminal, we are punishing them for someone else's actions. This stigmatizes entire families and violates the core human right of Individual Agency. A real-world system would need strict guardrails to prevent this variable from becoming a tool of oppression."</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20</a:t>
            </a:fld>
            <a:endParaRPr lang="en-US"/>
          </a:p>
        </p:txBody>
      </p:sp>
    </p:spTree>
    <p:extLst>
      <p:ext uri="{BB962C8B-B14F-4D97-AF65-F5344CB8AC3E}">
        <p14:creationId xmlns:p14="http://schemas.microsoft.com/office/powerpoint/2010/main" val="28831945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Slide 21, we transition to Learning Outcome 3: Business Value. All the machine learning in the world is useless if a police officer on the ground cannot understand it. </a:t>
            </a:r>
            <a:r>
              <a:rPr lang="en-US" b="1" dirty="0" err="1"/>
              <a:t>Huamantingo</a:t>
            </a:r>
            <a:r>
              <a:rPr lang="en-US" b="1" dirty="0"/>
              <a:t> et al. (2025)</a:t>
            </a:r>
            <a:r>
              <a:rPr lang="en-US" dirty="0"/>
              <a:t> specifically highlight this 'gap between research and implementation' as a major hurdle in crime prediction models.</a:t>
            </a:r>
          </a:p>
          <a:p>
            <a:r>
              <a:rPr lang="en-US" dirty="0"/>
              <a:t>This slide shows our concept for the </a:t>
            </a:r>
            <a:r>
              <a:rPr lang="en-US" b="1" dirty="0"/>
              <a:t>Tactical Dashboard</a:t>
            </a:r>
            <a:r>
              <a:rPr lang="en-US" dirty="0"/>
              <a:t>, designed specifically to close that gap for the Officer-in-Charge.</a:t>
            </a:r>
          </a:p>
          <a:p>
            <a:r>
              <a:rPr lang="en-US" dirty="0"/>
              <a:t>Instead of looking at Python code, the OIC sees a simple interface with a Red/Green risk meter. As </a:t>
            </a:r>
            <a:r>
              <a:rPr lang="en-US" b="1" dirty="0"/>
              <a:t>Haidar (2025)</a:t>
            </a:r>
            <a:r>
              <a:rPr lang="en-US" dirty="0"/>
              <a:t> notes, this kind of predictive analytic interface is essential for effective recidivism management.</a:t>
            </a:r>
          </a:p>
          <a:p>
            <a:r>
              <a:rPr lang="en-US" dirty="0"/>
              <a:t>The real business value here is speed. During the 'Golden Hour' immediately following an arrest, the OIC must make critical decisions. This dashboard provides instant, data-backed support, ensuring dangerous repeat offenders are held for the magistrate rather than being mistakenly released back onto the streets."</a:t>
            </a:r>
          </a:p>
        </p:txBody>
      </p:sp>
      <p:sp>
        <p:nvSpPr>
          <p:cNvPr id="4" name="Slide Number Placeholder 3"/>
          <p:cNvSpPr>
            <a:spLocks noGrp="1"/>
          </p:cNvSpPr>
          <p:nvPr>
            <p:ph type="sldNum" sz="quarter" idx="5"/>
          </p:nvPr>
        </p:nvSpPr>
        <p:spPr/>
        <p:txBody>
          <a:bodyPr/>
          <a:lstStyle/>
          <a:p>
            <a:fld id="{B010799E-1A84-4453-A0C6-0CC5DC904209}" type="slidenum">
              <a:rPr lang="en-US" smtClean="0"/>
              <a:t>21</a:t>
            </a:fld>
            <a:endParaRPr lang="en-US"/>
          </a:p>
        </p:txBody>
      </p:sp>
    </p:spTree>
    <p:extLst>
      <p:ext uri="{BB962C8B-B14F-4D97-AF65-F5344CB8AC3E}">
        <p14:creationId xmlns:p14="http://schemas.microsoft.com/office/powerpoint/2010/main" val="10379992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Slide 22, we look at the macro level: the </a:t>
            </a:r>
            <a:r>
              <a:rPr lang="en-US" b="1" dirty="0"/>
              <a:t>Strategic Dashboard</a:t>
            </a:r>
            <a:r>
              <a:rPr lang="en-US" dirty="0"/>
              <a:t> for the Inspector General of Police, or IGP.</a:t>
            </a:r>
          </a:p>
          <a:p>
            <a:r>
              <a:rPr lang="en-US" dirty="0"/>
              <a:t>While the OIC needs to know about one suspect, the IGP needs to know about the entire country. By aggregating our AI predictions, we can create dynamic </a:t>
            </a:r>
            <a:r>
              <a:rPr lang="en-US" b="1" dirty="0"/>
              <a:t>Geospatial Heatmaps</a:t>
            </a:r>
            <a:r>
              <a:rPr lang="en-US" dirty="0"/>
              <a:t>. As noted by </a:t>
            </a:r>
            <a:r>
              <a:rPr lang="en-US" b="1" dirty="0"/>
              <a:t>Sridharan et al. (2024)</a:t>
            </a:r>
            <a:r>
              <a:rPr lang="en-US" dirty="0"/>
              <a:t>, this type of machine learning application is critical for identifying broader crime patterns and trends.</a:t>
            </a:r>
          </a:p>
          <a:p>
            <a:r>
              <a:rPr lang="en-US" dirty="0"/>
              <a:t>The </a:t>
            </a:r>
            <a:r>
              <a:rPr lang="en-US" i="1" dirty="0"/>
              <a:t>Annual Performance Report (2024)</a:t>
            </a:r>
            <a:r>
              <a:rPr lang="en-US" dirty="0"/>
              <a:t> highlights the challenge of resource constraints. The Sri Lanka Police has a limited force of around 60,000 officers to cover the entire island. Instead of deploying them equally, this dashboard allows police leadership to strategically allocate officers to predicted 'High Recidivism Zones'.</a:t>
            </a:r>
          </a:p>
          <a:p>
            <a:r>
              <a:rPr lang="en-US" dirty="0"/>
              <a:t>As </a:t>
            </a:r>
            <a:r>
              <a:rPr lang="en-US" b="1" dirty="0"/>
              <a:t>Kovalchuk et al. (2024)</a:t>
            </a:r>
            <a:r>
              <a:rPr lang="en-US" dirty="0"/>
              <a:t> emphasize, this data-driven approach allows judicial and law enforcement systems to shift from simply reacting to crimes, to proactively preventing them before they happen."</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22</a:t>
            </a:fld>
            <a:endParaRPr lang="en-US"/>
          </a:p>
        </p:txBody>
      </p:sp>
    </p:spTree>
    <p:extLst>
      <p:ext uri="{BB962C8B-B14F-4D97-AF65-F5344CB8AC3E}">
        <p14:creationId xmlns:p14="http://schemas.microsoft.com/office/powerpoint/2010/main" val="36635366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brings us to the real-world application of our model. Prediction is only valuable if it leads to effective </a:t>
            </a:r>
            <a:r>
              <a:rPr lang="en-US" b="1" dirty="0"/>
              <a:t>Intervention Strategies</a:t>
            </a:r>
            <a:r>
              <a:rPr lang="en-US" dirty="0"/>
              <a:t>.</a:t>
            </a:r>
          </a:p>
          <a:p>
            <a:r>
              <a:rPr lang="en-US" dirty="0"/>
              <a:t>First, let's look at </a:t>
            </a:r>
            <a:r>
              <a:rPr lang="en-US" b="1" dirty="0"/>
              <a:t>Targeted Rehabilitation</a:t>
            </a:r>
            <a:r>
              <a:rPr lang="en-US" dirty="0"/>
              <a:t>, specifically concerning youth. Putting a young, low-risk offender into a high-security prison often turns them into a hardened criminal. As </a:t>
            </a:r>
            <a:r>
              <a:rPr lang="en-US" b="1" dirty="0"/>
              <a:t>Bhardwaj et al. (2026)</a:t>
            </a:r>
            <a:r>
              <a:rPr lang="en-US" dirty="0"/>
              <a:t> point out in their research on AI and Juvenile Justice, we can use these predictive models to identify low-risk youth and divert them into rehab and community programs instead of jail. This treats the root cause rather than just punishing the symptom.</a:t>
            </a:r>
          </a:p>
          <a:p>
            <a:r>
              <a:rPr lang="en-US" dirty="0"/>
              <a:t>Second, for the high-risk zones we identified on the IGP's strategic dashboard, we can implement </a:t>
            </a:r>
            <a:r>
              <a:rPr lang="en-US" b="1" dirty="0"/>
              <a:t>Predictive Patrols</a:t>
            </a:r>
            <a:r>
              <a:rPr lang="en-US" dirty="0"/>
              <a:t>. According to </a:t>
            </a:r>
            <a:r>
              <a:rPr lang="en-US" b="1" dirty="0"/>
              <a:t>Kovalchuk et al. (2024)</a:t>
            </a:r>
            <a:r>
              <a:rPr lang="en-US" dirty="0"/>
              <a:t> and </a:t>
            </a:r>
            <a:r>
              <a:rPr lang="en-US" b="1" dirty="0"/>
              <a:t>Sridharan et al. (2024)</a:t>
            </a:r>
            <a:r>
              <a:rPr lang="en-US" dirty="0"/>
              <a:t>, machine learning allows us to anticipate where crimes will happen. By placing police cruisers in those specific neighborhoods before the crime occurs, we create a deterrent effect.</a:t>
            </a:r>
          </a:p>
          <a:p>
            <a:r>
              <a:rPr lang="en-US" dirty="0"/>
              <a:t>Ultimately, this changes the police force from an organization that just </a:t>
            </a:r>
            <a:r>
              <a:rPr lang="en-US" i="1" dirty="0"/>
              <a:t>responds</a:t>
            </a:r>
            <a:r>
              <a:rPr lang="en-US" dirty="0"/>
              <a:t> to emergencies, into an organization that actively </a:t>
            </a:r>
            <a:r>
              <a:rPr lang="en-US" i="1" dirty="0"/>
              <a:t>prevents</a:t>
            </a:r>
            <a:r>
              <a:rPr lang="en-US" dirty="0"/>
              <a:t> them."</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23</a:t>
            </a:fld>
            <a:endParaRPr lang="en-US"/>
          </a:p>
        </p:txBody>
      </p:sp>
    </p:spTree>
    <p:extLst>
      <p:ext uri="{BB962C8B-B14F-4D97-AF65-F5344CB8AC3E}">
        <p14:creationId xmlns:p14="http://schemas.microsoft.com/office/powerpoint/2010/main" val="8830993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presentation, we have successfully shown that integrating biometric and network data into an </a:t>
            </a:r>
            <a:r>
              <a:rPr lang="en-US" dirty="0" err="1"/>
              <a:t>XGBoost</a:t>
            </a:r>
            <a:r>
              <a:rPr lang="en-US" dirty="0"/>
              <a:t> model can predict recidivism with 94% accuracy. Ultimately, this project represents a shift from subjective 'gut feeling' policing to objective, data-driven justice.</a:t>
            </a:r>
          </a:p>
          <a:p>
            <a:r>
              <a:rPr lang="en-US" dirty="0"/>
              <a:t>To make this a reality, we propose a three-phase roadmap.</a:t>
            </a:r>
          </a:p>
          <a:p>
            <a:r>
              <a:rPr lang="en-US" dirty="0"/>
              <a:t>Phase 1 is a pilot program right here in the Western Province, testing the tactical dashboard with real officers. Phase 2 involves integrating actual CCTV feeds to automatically calculate the Gait Risk Score, removing the need for manual data entry. Finally, Phase 3 is a national rollout, connecting all police stations island-wide to the IGP's strategic dashboard.</a:t>
            </a:r>
          </a:p>
          <a:p>
            <a:r>
              <a:rPr lang="en-US" dirty="0"/>
              <a:t>Thank you for your time. I am now open to any questions.</a:t>
            </a:r>
          </a:p>
          <a:p>
            <a:endParaRPr lang="en-US" dirty="0"/>
          </a:p>
        </p:txBody>
      </p:sp>
      <p:sp>
        <p:nvSpPr>
          <p:cNvPr id="4" name="Slide Number Placeholder 3"/>
          <p:cNvSpPr>
            <a:spLocks noGrp="1"/>
          </p:cNvSpPr>
          <p:nvPr>
            <p:ph type="sldNum" sz="quarter" idx="5"/>
          </p:nvPr>
        </p:nvSpPr>
        <p:spPr/>
        <p:txBody>
          <a:bodyPr/>
          <a:lstStyle/>
          <a:p>
            <a:fld id="{B010799E-1A84-4453-A0C6-0CC5DC904209}" type="slidenum">
              <a:rPr lang="en-US" smtClean="0"/>
              <a:t>24</a:t>
            </a:fld>
            <a:endParaRPr lang="en-US"/>
          </a:p>
        </p:txBody>
      </p:sp>
    </p:spTree>
    <p:extLst>
      <p:ext uri="{BB962C8B-B14F-4D97-AF65-F5344CB8AC3E}">
        <p14:creationId xmlns:p14="http://schemas.microsoft.com/office/powerpoint/2010/main" val="2162205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32517-353A-9292-0628-C7CBD4D4E5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EAB55C-103C-A343-19C1-55BE84359C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B7870E-7E84-409D-16EA-9E1CCC2E22B3}"/>
              </a:ext>
            </a:extLst>
          </p:cNvPr>
          <p:cNvSpPr>
            <a:spLocks noGrp="1"/>
          </p:cNvSpPr>
          <p:nvPr>
            <p:ph type="dt" sz="half" idx="10"/>
          </p:nvPr>
        </p:nvSpPr>
        <p:spPr/>
        <p:txBody>
          <a:bodyPr/>
          <a:lstStyle/>
          <a:p>
            <a:fld id="{C8972433-1F14-451D-940F-DD13EC68FAB3}" type="datetimeFigureOut">
              <a:rPr lang="en-US" smtClean="0"/>
              <a:t>2/19/2026</a:t>
            </a:fld>
            <a:endParaRPr lang="en-US"/>
          </a:p>
        </p:txBody>
      </p:sp>
      <p:sp>
        <p:nvSpPr>
          <p:cNvPr id="5" name="Footer Placeholder 4">
            <a:extLst>
              <a:ext uri="{FF2B5EF4-FFF2-40B4-BE49-F238E27FC236}">
                <a16:creationId xmlns:a16="http://schemas.microsoft.com/office/drawing/2014/main" id="{27C32BA6-33FB-9893-FAD6-5FC33AD7A2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F1FA4E-1F0F-88A2-0A01-7E5D917C29F7}"/>
              </a:ext>
            </a:extLst>
          </p:cNvPr>
          <p:cNvSpPr>
            <a:spLocks noGrp="1"/>
          </p:cNvSpPr>
          <p:nvPr>
            <p:ph type="sldNum" sz="quarter" idx="12"/>
          </p:nvPr>
        </p:nvSpPr>
        <p:spPr/>
        <p:txBody>
          <a:bodyPr/>
          <a:lstStyle/>
          <a:p>
            <a:fld id="{1DF6C171-B4C3-44DF-B269-4B6ADCF76BFE}" type="slidenum">
              <a:rPr lang="en-US" smtClean="0"/>
              <a:t>‹#›</a:t>
            </a:fld>
            <a:endParaRPr lang="en-US"/>
          </a:p>
        </p:txBody>
      </p:sp>
    </p:spTree>
    <p:extLst>
      <p:ext uri="{BB962C8B-B14F-4D97-AF65-F5344CB8AC3E}">
        <p14:creationId xmlns:p14="http://schemas.microsoft.com/office/powerpoint/2010/main" val="2248211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6D18B-BBCA-A536-EE20-CAEA26B17B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66A0C7-E4AA-0DD5-05E5-737D900138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EA11D6-E7E2-89F5-9247-6B009C12FB91}"/>
              </a:ext>
            </a:extLst>
          </p:cNvPr>
          <p:cNvSpPr>
            <a:spLocks noGrp="1"/>
          </p:cNvSpPr>
          <p:nvPr>
            <p:ph type="dt" sz="half" idx="10"/>
          </p:nvPr>
        </p:nvSpPr>
        <p:spPr/>
        <p:txBody>
          <a:bodyPr/>
          <a:lstStyle/>
          <a:p>
            <a:fld id="{C8972433-1F14-451D-940F-DD13EC68FAB3}" type="datetimeFigureOut">
              <a:rPr lang="en-US" smtClean="0"/>
              <a:t>2/19/2026</a:t>
            </a:fld>
            <a:endParaRPr lang="en-US"/>
          </a:p>
        </p:txBody>
      </p:sp>
      <p:sp>
        <p:nvSpPr>
          <p:cNvPr id="5" name="Footer Placeholder 4">
            <a:extLst>
              <a:ext uri="{FF2B5EF4-FFF2-40B4-BE49-F238E27FC236}">
                <a16:creationId xmlns:a16="http://schemas.microsoft.com/office/drawing/2014/main" id="{2BA95162-8D17-D20D-3480-EF48DF75C5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E69D1D-70E9-7C53-502F-910BDABEEFB5}"/>
              </a:ext>
            </a:extLst>
          </p:cNvPr>
          <p:cNvSpPr>
            <a:spLocks noGrp="1"/>
          </p:cNvSpPr>
          <p:nvPr>
            <p:ph type="sldNum" sz="quarter" idx="12"/>
          </p:nvPr>
        </p:nvSpPr>
        <p:spPr/>
        <p:txBody>
          <a:bodyPr/>
          <a:lstStyle/>
          <a:p>
            <a:fld id="{1DF6C171-B4C3-44DF-B269-4B6ADCF76BFE}" type="slidenum">
              <a:rPr lang="en-US" smtClean="0"/>
              <a:t>‹#›</a:t>
            </a:fld>
            <a:endParaRPr lang="en-US"/>
          </a:p>
        </p:txBody>
      </p:sp>
    </p:spTree>
    <p:extLst>
      <p:ext uri="{BB962C8B-B14F-4D97-AF65-F5344CB8AC3E}">
        <p14:creationId xmlns:p14="http://schemas.microsoft.com/office/powerpoint/2010/main" val="3632922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75C57-8509-3069-DC26-1AAF7A9BC3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44434B-2727-E159-CC85-03BF77BD22E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32CE6D-502B-0FD2-5EC1-4D086F8815AB}"/>
              </a:ext>
            </a:extLst>
          </p:cNvPr>
          <p:cNvSpPr>
            <a:spLocks noGrp="1"/>
          </p:cNvSpPr>
          <p:nvPr>
            <p:ph type="dt" sz="half" idx="10"/>
          </p:nvPr>
        </p:nvSpPr>
        <p:spPr/>
        <p:txBody>
          <a:bodyPr/>
          <a:lstStyle/>
          <a:p>
            <a:fld id="{C8972433-1F14-451D-940F-DD13EC68FAB3}" type="datetimeFigureOut">
              <a:rPr lang="en-US" smtClean="0"/>
              <a:t>2/19/2026</a:t>
            </a:fld>
            <a:endParaRPr lang="en-US"/>
          </a:p>
        </p:txBody>
      </p:sp>
      <p:sp>
        <p:nvSpPr>
          <p:cNvPr id="5" name="Footer Placeholder 4">
            <a:extLst>
              <a:ext uri="{FF2B5EF4-FFF2-40B4-BE49-F238E27FC236}">
                <a16:creationId xmlns:a16="http://schemas.microsoft.com/office/drawing/2014/main" id="{725C8C77-4424-0A44-4ADB-70334B94F3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58EECE-2CD9-1E12-16E6-52364E2C3910}"/>
              </a:ext>
            </a:extLst>
          </p:cNvPr>
          <p:cNvSpPr>
            <a:spLocks noGrp="1"/>
          </p:cNvSpPr>
          <p:nvPr>
            <p:ph type="sldNum" sz="quarter" idx="12"/>
          </p:nvPr>
        </p:nvSpPr>
        <p:spPr/>
        <p:txBody>
          <a:bodyPr/>
          <a:lstStyle/>
          <a:p>
            <a:fld id="{1DF6C171-B4C3-44DF-B269-4B6ADCF76BFE}" type="slidenum">
              <a:rPr lang="en-US" smtClean="0"/>
              <a:t>‹#›</a:t>
            </a:fld>
            <a:endParaRPr lang="en-US"/>
          </a:p>
        </p:txBody>
      </p:sp>
    </p:spTree>
    <p:extLst>
      <p:ext uri="{BB962C8B-B14F-4D97-AF65-F5344CB8AC3E}">
        <p14:creationId xmlns:p14="http://schemas.microsoft.com/office/powerpoint/2010/main" val="1243910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64CFA-2720-91F0-AFAD-22814E24D6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569A04-5B33-1C83-75A5-8ECBB5233C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378EB3-F2BB-3752-FAA9-AC1C0C5B8A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5FA50C-BFA2-085D-21B4-C4402BCF4795}"/>
              </a:ext>
            </a:extLst>
          </p:cNvPr>
          <p:cNvSpPr>
            <a:spLocks noGrp="1"/>
          </p:cNvSpPr>
          <p:nvPr>
            <p:ph type="dt" sz="half" idx="10"/>
          </p:nvPr>
        </p:nvSpPr>
        <p:spPr/>
        <p:txBody>
          <a:bodyPr/>
          <a:lstStyle/>
          <a:p>
            <a:fld id="{C8972433-1F14-451D-940F-DD13EC68FAB3}" type="datetimeFigureOut">
              <a:rPr lang="en-US" smtClean="0"/>
              <a:t>2/19/2026</a:t>
            </a:fld>
            <a:endParaRPr lang="en-US"/>
          </a:p>
        </p:txBody>
      </p:sp>
      <p:sp>
        <p:nvSpPr>
          <p:cNvPr id="6" name="Footer Placeholder 5">
            <a:extLst>
              <a:ext uri="{FF2B5EF4-FFF2-40B4-BE49-F238E27FC236}">
                <a16:creationId xmlns:a16="http://schemas.microsoft.com/office/drawing/2014/main" id="{7C4E9297-7CB5-291B-4E95-2B20E479B4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B2A751-E716-044C-5E36-4A19B3331580}"/>
              </a:ext>
            </a:extLst>
          </p:cNvPr>
          <p:cNvSpPr>
            <a:spLocks noGrp="1"/>
          </p:cNvSpPr>
          <p:nvPr>
            <p:ph type="sldNum" sz="quarter" idx="12"/>
          </p:nvPr>
        </p:nvSpPr>
        <p:spPr/>
        <p:txBody>
          <a:bodyPr/>
          <a:lstStyle/>
          <a:p>
            <a:fld id="{1DF6C171-B4C3-44DF-B269-4B6ADCF76BFE}" type="slidenum">
              <a:rPr lang="en-US" smtClean="0"/>
              <a:t>‹#›</a:t>
            </a:fld>
            <a:endParaRPr lang="en-US"/>
          </a:p>
        </p:txBody>
      </p:sp>
    </p:spTree>
    <p:extLst>
      <p:ext uri="{BB962C8B-B14F-4D97-AF65-F5344CB8AC3E}">
        <p14:creationId xmlns:p14="http://schemas.microsoft.com/office/powerpoint/2010/main" val="2182207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0D2F4-D7F7-C43E-0657-29398168B2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676539-D420-8613-F63F-CAD226AEE8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5019E7-2233-52C9-F6FB-F67C696090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61BD8A-2517-8C37-12FB-50C2D1128A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F897EC-BD32-9E49-B7F3-8C815455D2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5A4B7E-428F-68D7-DA85-ECEE96363E7A}"/>
              </a:ext>
            </a:extLst>
          </p:cNvPr>
          <p:cNvSpPr>
            <a:spLocks noGrp="1"/>
          </p:cNvSpPr>
          <p:nvPr>
            <p:ph type="dt" sz="half" idx="10"/>
          </p:nvPr>
        </p:nvSpPr>
        <p:spPr/>
        <p:txBody>
          <a:bodyPr/>
          <a:lstStyle/>
          <a:p>
            <a:fld id="{C8972433-1F14-451D-940F-DD13EC68FAB3}" type="datetimeFigureOut">
              <a:rPr lang="en-US" smtClean="0"/>
              <a:t>2/19/2026</a:t>
            </a:fld>
            <a:endParaRPr lang="en-US"/>
          </a:p>
        </p:txBody>
      </p:sp>
      <p:sp>
        <p:nvSpPr>
          <p:cNvPr id="8" name="Footer Placeholder 7">
            <a:extLst>
              <a:ext uri="{FF2B5EF4-FFF2-40B4-BE49-F238E27FC236}">
                <a16:creationId xmlns:a16="http://schemas.microsoft.com/office/drawing/2014/main" id="{5E67467C-04B1-8C26-0539-3A54373DBC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59813E-A008-9DF6-4A15-3FF2E0CA107A}"/>
              </a:ext>
            </a:extLst>
          </p:cNvPr>
          <p:cNvSpPr>
            <a:spLocks noGrp="1"/>
          </p:cNvSpPr>
          <p:nvPr>
            <p:ph type="sldNum" sz="quarter" idx="12"/>
          </p:nvPr>
        </p:nvSpPr>
        <p:spPr/>
        <p:txBody>
          <a:bodyPr/>
          <a:lstStyle/>
          <a:p>
            <a:fld id="{1DF6C171-B4C3-44DF-B269-4B6ADCF76BFE}" type="slidenum">
              <a:rPr lang="en-US" smtClean="0"/>
              <a:t>‹#›</a:t>
            </a:fld>
            <a:endParaRPr lang="en-US"/>
          </a:p>
        </p:txBody>
      </p:sp>
    </p:spTree>
    <p:extLst>
      <p:ext uri="{BB962C8B-B14F-4D97-AF65-F5344CB8AC3E}">
        <p14:creationId xmlns:p14="http://schemas.microsoft.com/office/powerpoint/2010/main" val="58667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9041-5D4D-77CE-7743-0A7114C2EA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55A8C3-ECDE-5681-1D32-406B280B16D6}"/>
              </a:ext>
            </a:extLst>
          </p:cNvPr>
          <p:cNvSpPr>
            <a:spLocks noGrp="1"/>
          </p:cNvSpPr>
          <p:nvPr>
            <p:ph type="dt" sz="half" idx="10"/>
          </p:nvPr>
        </p:nvSpPr>
        <p:spPr/>
        <p:txBody>
          <a:bodyPr/>
          <a:lstStyle/>
          <a:p>
            <a:fld id="{C8972433-1F14-451D-940F-DD13EC68FAB3}" type="datetimeFigureOut">
              <a:rPr lang="en-US" smtClean="0"/>
              <a:t>2/19/2026</a:t>
            </a:fld>
            <a:endParaRPr lang="en-US"/>
          </a:p>
        </p:txBody>
      </p:sp>
      <p:sp>
        <p:nvSpPr>
          <p:cNvPr id="4" name="Footer Placeholder 3">
            <a:extLst>
              <a:ext uri="{FF2B5EF4-FFF2-40B4-BE49-F238E27FC236}">
                <a16:creationId xmlns:a16="http://schemas.microsoft.com/office/drawing/2014/main" id="{8933A315-0069-4D51-E07E-9B3F803818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A33F5F-811A-1AAC-5FD1-11CA7EDC2EAB}"/>
              </a:ext>
            </a:extLst>
          </p:cNvPr>
          <p:cNvSpPr>
            <a:spLocks noGrp="1"/>
          </p:cNvSpPr>
          <p:nvPr>
            <p:ph type="sldNum" sz="quarter" idx="12"/>
          </p:nvPr>
        </p:nvSpPr>
        <p:spPr/>
        <p:txBody>
          <a:bodyPr/>
          <a:lstStyle/>
          <a:p>
            <a:fld id="{1DF6C171-B4C3-44DF-B269-4B6ADCF76BFE}" type="slidenum">
              <a:rPr lang="en-US" smtClean="0"/>
              <a:t>‹#›</a:t>
            </a:fld>
            <a:endParaRPr lang="en-US"/>
          </a:p>
        </p:txBody>
      </p:sp>
    </p:spTree>
    <p:extLst>
      <p:ext uri="{BB962C8B-B14F-4D97-AF65-F5344CB8AC3E}">
        <p14:creationId xmlns:p14="http://schemas.microsoft.com/office/powerpoint/2010/main" val="42612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35808-8E6A-E87E-953D-20BCBB439CF5}"/>
              </a:ext>
            </a:extLst>
          </p:cNvPr>
          <p:cNvSpPr>
            <a:spLocks noGrp="1"/>
          </p:cNvSpPr>
          <p:nvPr>
            <p:ph type="dt" sz="half" idx="10"/>
          </p:nvPr>
        </p:nvSpPr>
        <p:spPr/>
        <p:txBody>
          <a:bodyPr/>
          <a:lstStyle/>
          <a:p>
            <a:fld id="{C8972433-1F14-451D-940F-DD13EC68FAB3}" type="datetimeFigureOut">
              <a:rPr lang="en-US" smtClean="0"/>
              <a:t>2/19/2026</a:t>
            </a:fld>
            <a:endParaRPr lang="en-US"/>
          </a:p>
        </p:txBody>
      </p:sp>
      <p:sp>
        <p:nvSpPr>
          <p:cNvPr id="3" name="Footer Placeholder 2">
            <a:extLst>
              <a:ext uri="{FF2B5EF4-FFF2-40B4-BE49-F238E27FC236}">
                <a16:creationId xmlns:a16="http://schemas.microsoft.com/office/drawing/2014/main" id="{2AC6B52C-A3FC-116A-F0BB-17D83C6C3B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A5AC69-A7E6-12E2-CD60-387EFB91204F}"/>
              </a:ext>
            </a:extLst>
          </p:cNvPr>
          <p:cNvSpPr>
            <a:spLocks noGrp="1"/>
          </p:cNvSpPr>
          <p:nvPr>
            <p:ph type="sldNum" sz="quarter" idx="12"/>
          </p:nvPr>
        </p:nvSpPr>
        <p:spPr/>
        <p:txBody>
          <a:bodyPr/>
          <a:lstStyle/>
          <a:p>
            <a:fld id="{1DF6C171-B4C3-44DF-B269-4B6ADCF76BFE}" type="slidenum">
              <a:rPr lang="en-US" smtClean="0"/>
              <a:t>‹#›</a:t>
            </a:fld>
            <a:endParaRPr lang="en-US"/>
          </a:p>
        </p:txBody>
      </p:sp>
    </p:spTree>
    <p:extLst>
      <p:ext uri="{BB962C8B-B14F-4D97-AF65-F5344CB8AC3E}">
        <p14:creationId xmlns:p14="http://schemas.microsoft.com/office/powerpoint/2010/main" val="2511236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129A6-FFF5-72BF-9C51-E46A3EB9BD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B7983E-8A4C-A67A-8044-47CB4D48E2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74ED79-A5CC-44B8-8CC0-D08380AD22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2E4BCF-9D74-BF33-F530-C83194E8B4AC}"/>
              </a:ext>
            </a:extLst>
          </p:cNvPr>
          <p:cNvSpPr>
            <a:spLocks noGrp="1"/>
          </p:cNvSpPr>
          <p:nvPr>
            <p:ph type="dt" sz="half" idx="10"/>
          </p:nvPr>
        </p:nvSpPr>
        <p:spPr/>
        <p:txBody>
          <a:bodyPr/>
          <a:lstStyle/>
          <a:p>
            <a:fld id="{C8972433-1F14-451D-940F-DD13EC68FAB3}" type="datetimeFigureOut">
              <a:rPr lang="en-US" smtClean="0"/>
              <a:t>2/19/2026</a:t>
            </a:fld>
            <a:endParaRPr lang="en-US"/>
          </a:p>
        </p:txBody>
      </p:sp>
      <p:sp>
        <p:nvSpPr>
          <p:cNvPr id="6" name="Footer Placeholder 5">
            <a:extLst>
              <a:ext uri="{FF2B5EF4-FFF2-40B4-BE49-F238E27FC236}">
                <a16:creationId xmlns:a16="http://schemas.microsoft.com/office/drawing/2014/main" id="{7F39B6FB-6F1D-A440-EB57-FDC007DAFF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9A20D2-BB01-7A2A-8E09-1F3D1FD3EB81}"/>
              </a:ext>
            </a:extLst>
          </p:cNvPr>
          <p:cNvSpPr>
            <a:spLocks noGrp="1"/>
          </p:cNvSpPr>
          <p:nvPr>
            <p:ph type="sldNum" sz="quarter" idx="12"/>
          </p:nvPr>
        </p:nvSpPr>
        <p:spPr/>
        <p:txBody>
          <a:bodyPr/>
          <a:lstStyle/>
          <a:p>
            <a:fld id="{1DF6C171-B4C3-44DF-B269-4B6ADCF76BFE}" type="slidenum">
              <a:rPr lang="en-US" smtClean="0"/>
              <a:t>‹#›</a:t>
            </a:fld>
            <a:endParaRPr lang="en-US"/>
          </a:p>
        </p:txBody>
      </p:sp>
    </p:spTree>
    <p:extLst>
      <p:ext uri="{BB962C8B-B14F-4D97-AF65-F5344CB8AC3E}">
        <p14:creationId xmlns:p14="http://schemas.microsoft.com/office/powerpoint/2010/main" val="2846417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35948-F133-F9D1-315B-2FD5674BEB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26F1EC-CE2F-7ED6-FD19-D2B70492F3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545C80-7B57-375E-2BDA-0A32068B2C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6DB75B-EE75-965D-5B79-4E2658BC3C06}"/>
              </a:ext>
            </a:extLst>
          </p:cNvPr>
          <p:cNvSpPr>
            <a:spLocks noGrp="1"/>
          </p:cNvSpPr>
          <p:nvPr>
            <p:ph type="dt" sz="half" idx="10"/>
          </p:nvPr>
        </p:nvSpPr>
        <p:spPr/>
        <p:txBody>
          <a:bodyPr/>
          <a:lstStyle/>
          <a:p>
            <a:fld id="{C8972433-1F14-451D-940F-DD13EC68FAB3}" type="datetimeFigureOut">
              <a:rPr lang="en-US" smtClean="0"/>
              <a:t>2/19/2026</a:t>
            </a:fld>
            <a:endParaRPr lang="en-US"/>
          </a:p>
        </p:txBody>
      </p:sp>
      <p:sp>
        <p:nvSpPr>
          <p:cNvPr id="6" name="Footer Placeholder 5">
            <a:extLst>
              <a:ext uri="{FF2B5EF4-FFF2-40B4-BE49-F238E27FC236}">
                <a16:creationId xmlns:a16="http://schemas.microsoft.com/office/drawing/2014/main" id="{4137F760-99E9-1D68-617E-1FF5F5EDD7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18BA9C-DEEF-682E-837A-772F93E1521C}"/>
              </a:ext>
            </a:extLst>
          </p:cNvPr>
          <p:cNvSpPr>
            <a:spLocks noGrp="1"/>
          </p:cNvSpPr>
          <p:nvPr>
            <p:ph type="sldNum" sz="quarter" idx="12"/>
          </p:nvPr>
        </p:nvSpPr>
        <p:spPr/>
        <p:txBody>
          <a:bodyPr/>
          <a:lstStyle/>
          <a:p>
            <a:fld id="{1DF6C171-B4C3-44DF-B269-4B6ADCF76BFE}" type="slidenum">
              <a:rPr lang="en-US" smtClean="0"/>
              <a:t>‹#›</a:t>
            </a:fld>
            <a:endParaRPr lang="en-US"/>
          </a:p>
        </p:txBody>
      </p:sp>
    </p:spTree>
    <p:extLst>
      <p:ext uri="{BB962C8B-B14F-4D97-AF65-F5344CB8AC3E}">
        <p14:creationId xmlns:p14="http://schemas.microsoft.com/office/powerpoint/2010/main" val="40211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1731A-C8C7-34DB-DED2-C4B0491DD6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CD539C-A0E9-8690-D28C-E13FCFA63D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5B1C0F-32AD-EE82-91D6-3D7F0BEEE9CE}"/>
              </a:ext>
            </a:extLst>
          </p:cNvPr>
          <p:cNvSpPr>
            <a:spLocks noGrp="1"/>
          </p:cNvSpPr>
          <p:nvPr>
            <p:ph type="dt" sz="half" idx="10"/>
          </p:nvPr>
        </p:nvSpPr>
        <p:spPr/>
        <p:txBody>
          <a:bodyPr/>
          <a:lstStyle/>
          <a:p>
            <a:fld id="{C8972433-1F14-451D-940F-DD13EC68FAB3}" type="datetimeFigureOut">
              <a:rPr lang="en-US" smtClean="0"/>
              <a:t>2/19/2026</a:t>
            </a:fld>
            <a:endParaRPr lang="en-US"/>
          </a:p>
        </p:txBody>
      </p:sp>
      <p:sp>
        <p:nvSpPr>
          <p:cNvPr id="5" name="Footer Placeholder 4">
            <a:extLst>
              <a:ext uri="{FF2B5EF4-FFF2-40B4-BE49-F238E27FC236}">
                <a16:creationId xmlns:a16="http://schemas.microsoft.com/office/drawing/2014/main" id="{D956F9F9-A805-836D-B5CA-5CFA95F2D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439919-7F9D-B078-2ED6-5DE71E9CE848}"/>
              </a:ext>
            </a:extLst>
          </p:cNvPr>
          <p:cNvSpPr>
            <a:spLocks noGrp="1"/>
          </p:cNvSpPr>
          <p:nvPr>
            <p:ph type="sldNum" sz="quarter" idx="12"/>
          </p:nvPr>
        </p:nvSpPr>
        <p:spPr/>
        <p:txBody>
          <a:bodyPr/>
          <a:lstStyle/>
          <a:p>
            <a:fld id="{1DF6C171-B4C3-44DF-B269-4B6ADCF76BFE}" type="slidenum">
              <a:rPr lang="en-US" smtClean="0"/>
              <a:t>‹#›</a:t>
            </a:fld>
            <a:endParaRPr lang="en-US"/>
          </a:p>
        </p:txBody>
      </p:sp>
    </p:spTree>
    <p:extLst>
      <p:ext uri="{BB962C8B-B14F-4D97-AF65-F5344CB8AC3E}">
        <p14:creationId xmlns:p14="http://schemas.microsoft.com/office/powerpoint/2010/main" val="2221321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935B09-7A3E-FF75-E83C-0798AA1E57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45BD14-6FA8-8FA7-133C-EE4A52D894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ED68D6-86DD-54C9-9035-3A0C07670E28}"/>
              </a:ext>
            </a:extLst>
          </p:cNvPr>
          <p:cNvSpPr>
            <a:spLocks noGrp="1"/>
          </p:cNvSpPr>
          <p:nvPr>
            <p:ph type="dt" sz="half" idx="10"/>
          </p:nvPr>
        </p:nvSpPr>
        <p:spPr/>
        <p:txBody>
          <a:bodyPr/>
          <a:lstStyle/>
          <a:p>
            <a:fld id="{C8972433-1F14-451D-940F-DD13EC68FAB3}" type="datetimeFigureOut">
              <a:rPr lang="en-US" smtClean="0"/>
              <a:t>2/19/2026</a:t>
            </a:fld>
            <a:endParaRPr lang="en-US"/>
          </a:p>
        </p:txBody>
      </p:sp>
      <p:sp>
        <p:nvSpPr>
          <p:cNvPr id="5" name="Footer Placeholder 4">
            <a:extLst>
              <a:ext uri="{FF2B5EF4-FFF2-40B4-BE49-F238E27FC236}">
                <a16:creationId xmlns:a16="http://schemas.microsoft.com/office/drawing/2014/main" id="{61D69ACF-25BC-4D17-1D9A-F33F838C7C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A36CD5-F5A0-28F1-B8CB-B5A5111F3CA8}"/>
              </a:ext>
            </a:extLst>
          </p:cNvPr>
          <p:cNvSpPr>
            <a:spLocks noGrp="1"/>
          </p:cNvSpPr>
          <p:nvPr>
            <p:ph type="sldNum" sz="quarter" idx="12"/>
          </p:nvPr>
        </p:nvSpPr>
        <p:spPr/>
        <p:txBody>
          <a:bodyPr/>
          <a:lstStyle/>
          <a:p>
            <a:fld id="{1DF6C171-B4C3-44DF-B269-4B6ADCF76BFE}" type="slidenum">
              <a:rPr lang="en-US" smtClean="0"/>
              <a:t>‹#›</a:t>
            </a:fld>
            <a:endParaRPr lang="en-US"/>
          </a:p>
        </p:txBody>
      </p:sp>
    </p:spTree>
    <p:extLst>
      <p:ext uri="{BB962C8B-B14F-4D97-AF65-F5344CB8AC3E}">
        <p14:creationId xmlns:p14="http://schemas.microsoft.com/office/powerpoint/2010/main" val="1685311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F6D8E2-552F-B557-465B-8E21956707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F2FE74-A528-499D-8EC8-F6587B1A55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B03040-2027-48CF-D21C-1D564F9BCF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972433-1F14-451D-940F-DD13EC68FAB3}" type="datetimeFigureOut">
              <a:rPr lang="en-US" smtClean="0"/>
              <a:t>2/19/2026</a:t>
            </a:fld>
            <a:endParaRPr lang="en-US"/>
          </a:p>
        </p:txBody>
      </p:sp>
      <p:sp>
        <p:nvSpPr>
          <p:cNvPr id="5" name="Footer Placeholder 4">
            <a:extLst>
              <a:ext uri="{FF2B5EF4-FFF2-40B4-BE49-F238E27FC236}">
                <a16:creationId xmlns:a16="http://schemas.microsoft.com/office/drawing/2014/main" id="{6A9BBCB9-62BD-EBBC-B4F1-81F53738FF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238C7D2-CB57-3A02-936E-0EAF1EEAE2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F6C171-B4C3-44DF-B269-4B6ADCF76BFE}" type="slidenum">
              <a:rPr lang="en-US" smtClean="0"/>
              <a:t>‹#›</a:t>
            </a:fld>
            <a:endParaRPr lang="en-US"/>
          </a:p>
        </p:txBody>
      </p:sp>
    </p:spTree>
    <p:extLst>
      <p:ext uri="{BB962C8B-B14F-4D97-AF65-F5344CB8AC3E}">
        <p14:creationId xmlns:p14="http://schemas.microsoft.com/office/powerpoint/2010/main" val="30878685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36A442-1548-58D2-01EE-26E0D45A9DC8}"/>
              </a:ext>
            </a:extLst>
          </p:cNvPr>
          <p:cNvPicPr>
            <a:picLocks noChangeAspect="1"/>
          </p:cNvPicPr>
          <p:nvPr/>
        </p:nvPicPr>
        <p:blipFill>
          <a:blip r:embed="rId3">
            <a:alphaModFix/>
            <a:extLst>
              <a:ext uri="{BEBA8EAE-BF5A-486C-A8C5-ECC9F3942E4B}">
                <a14:imgProps xmlns:a14="http://schemas.microsoft.com/office/drawing/2010/main">
                  <a14:imgLayer r:embed="rId4">
                    <a14:imgEffect>
                      <a14:saturation sat="66000"/>
                    </a14:imgEffect>
                  </a14:imgLayer>
                </a14:imgProps>
              </a:ext>
            </a:extLst>
          </a:blip>
          <a:srcRect t="20852" b="13646"/>
          <a:stretch>
            <a:fillRect/>
          </a:stretch>
        </p:blipFill>
        <p:spPr>
          <a:xfrm>
            <a:off x="1521806" y="2510970"/>
            <a:ext cx="3674354" cy="1815882"/>
          </a:xfrm>
          <a:prstGeom prst="rect">
            <a:avLst/>
          </a:prstGeom>
        </p:spPr>
      </p:pic>
      <p:sp>
        <p:nvSpPr>
          <p:cNvPr id="13" name="TextBox 12">
            <a:extLst>
              <a:ext uri="{FF2B5EF4-FFF2-40B4-BE49-F238E27FC236}">
                <a16:creationId xmlns:a16="http://schemas.microsoft.com/office/drawing/2014/main" id="{865B1B0F-4128-51B1-4C9D-98685FD1C6D9}"/>
              </a:ext>
            </a:extLst>
          </p:cNvPr>
          <p:cNvSpPr txBox="1"/>
          <p:nvPr/>
        </p:nvSpPr>
        <p:spPr>
          <a:xfrm>
            <a:off x="5370286" y="2637095"/>
            <a:ext cx="5299908" cy="1015663"/>
          </a:xfrm>
          <a:prstGeom prst="rect">
            <a:avLst/>
          </a:prstGeom>
          <a:noFill/>
        </p:spPr>
        <p:txBody>
          <a:bodyPr wrap="square">
            <a:spAutoFit/>
          </a:bodyPr>
          <a:lstStyle/>
          <a:p>
            <a:r>
              <a:rPr lang="en-US" sz="2000" dirty="0">
                <a:latin typeface="VCR OSD Mono" panose="02000609000000000000" pitchFamily="49" charset="0"/>
              </a:rPr>
              <a:t>A BIOMETRIC-DRIVEN MACHINE LEARNING FRAMEWORK FOR RECIDIVISM PREDICTION IN SRI LANKA</a:t>
            </a:r>
          </a:p>
        </p:txBody>
      </p:sp>
      <p:pic>
        <p:nvPicPr>
          <p:cNvPr id="15" name="Picture 14">
            <a:extLst>
              <a:ext uri="{FF2B5EF4-FFF2-40B4-BE49-F238E27FC236}">
                <a16:creationId xmlns:a16="http://schemas.microsoft.com/office/drawing/2014/main" id="{6F4D5BEC-33A5-0647-BBED-FDB87F0E4B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4519" y="538480"/>
            <a:ext cx="807760" cy="1031240"/>
          </a:xfrm>
          <a:prstGeom prst="rect">
            <a:avLst/>
          </a:prstGeom>
        </p:spPr>
      </p:pic>
      <p:pic>
        <p:nvPicPr>
          <p:cNvPr id="17" name="Graphic 16">
            <a:extLst>
              <a:ext uri="{FF2B5EF4-FFF2-40B4-BE49-F238E27FC236}">
                <a16:creationId xmlns:a16="http://schemas.microsoft.com/office/drawing/2014/main" id="{3111BAAF-EC57-0CBD-33B7-84FFDA404DE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93609" y="538480"/>
            <a:ext cx="1598768" cy="1031240"/>
          </a:xfrm>
          <a:prstGeom prst="rect">
            <a:avLst/>
          </a:prstGeom>
        </p:spPr>
      </p:pic>
      <p:sp>
        <p:nvSpPr>
          <p:cNvPr id="19" name="TextBox 18">
            <a:extLst>
              <a:ext uri="{FF2B5EF4-FFF2-40B4-BE49-F238E27FC236}">
                <a16:creationId xmlns:a16="http://schemas.microsoft.com/office/drawing/2014/main" id="{9A935738-5C55-B9C0-7DA8-11908266E840}"/>
              </a:ext>
            </a:extLst>
          </p:cNvPr>
          <p:cNvSpPr txBox="1"/>
          <p:nvPr/>
        </p:nvSpPr>
        <p:spPr>
          <a:xfrm>
            <a:off x="5370286" y="3652758"/>
            <a:ext cx="5299908" cy="461665"/>
          </a:xfrm>
          <a:prstGeom prst="rect">
            <a:avLst/>
          </a:prstGeom>
          <a:noFill/>
        </p:spPr>
        <p:txBody>
          <a:bodyPr wrap="square">
            <a:spAutoFit/>
          </a:bodyPr>
          <a:lstStyle/>
          <a:p>
            <a:r>
              <a:rPr lang="en-US" sz="1200" i="1" dirty="0">
                <a:latin typeface="JetBrainsMono NF" panose="02000009000000000000" pitchFamily="50" charset="0"/>
                <a:ea typeface="JetBrainsMono NF" panose="02000009000000000000" pitchFamily="50" charset="0"/>
                <a:cs typeface="JetBrainsMono NF" panose="02000009000000000000" pitchFamily="50" charset="0"/>
              </a:rPr>
              <a:t>Enhancing Public Safety through Predictive Analytics and Behavioral Biometrics.</a:t>
            </a:r>
          </a:p>
        </p:txBody>
      </p:sp>
      <p:sp>
        <p:nvSpPr>
          <p:cNvPr id="20" name="TextBox 19">
            <a:extLst>
              <a:ext uri="{FF2B5EF4-FFF2-40B4-BE49-F238E27FC236}">
                <a16:creationId xmlns:a16="http://schemas.microsoft.com/office/drawing/2014/main" id="{017F7667-9461-5706-A8C2-B132343AC79C}"/>
              </a:ext>
            </a:extLst>
          </p:cNvPr>
          <p:cNvSpPr txBox="1"/>
          <p:nvPr/>
        </p:nvSpPr>
        <p:spPr>
          <a:xfrm>
            <a:off x="494405" y="5500940"/>
            <a:ext cx="1556836" cy="246221"/>
          </a:xfrm>
          <a:prstGeom prst="rect">
            <a:avLst/>
          </a:prstGeom>
          <a:noFill/>
        </p:spPr>
        <p:txBody>
          <a:bodyPr wrap="none" rtlCol="0">
            <a:spAutoFit/>
          </a:bodyPr>
          <a:lstStyle/>
          <a:p>
            <a:pPr algn="ctr"/>
            <a:r>
              <a:rPr lang="en-US" sz="1000" dirty="0">
                <a:latin typeface="Alliance No.2 Light" panose="00000400000000000000" pitchFamily="50" charset="0"/>
                <a:ea typeface="JetBrainsMono NF Light" panose="02000009000000000000" pitchFamily="50" charset="0"/>
                <a:cs typeface="JetBrainsMono NF Light" panose="02000009000000000000" pitchFamily="50" charset="0"/>
              </a:rPr>
              <a:t>M.G.L.N </a:t>
            </a:r>
            <a:r>
              <a:rPr lang="en-US" sz="1000" dirty="0" err="1">
                <a:latin typeface="Alliance No.2 Light" panose="00000400000000000000" pitchFamily="50" charset="0"/>
                <a:ea typeface="JetBrainsMono NF Light" panose="02000009000000000000" pitchFamily="50" charset="0"/>
                <a:cs typeface="JetBrainsMono NF Light" panose="02000009000000000000" pitchFamily="50" charset="0"/>
              </a:rPr>
              <a:t>Kumararathna</a:t>
            </a:r>
            <a:endParaRPr lang="en-US" sz="1000" dirty="0">
              <a:latin typeface="Alliance No.2 Light" panose="00000400000000000000" pitchFamily="50" charset="0"/>
              <a:ea typeface="JetBrainsMono NF Light" panose="02000009000000000000" pitchFamily="50" charset="0"/>
              <a:cs typeface="JetBrainsMono NF Light" panose="02000009000000000000" pitchFamily="50" charset="0"/>
            </a:endParaRPr>
          </a:p>
        </p:txBody>
      </p:sp>
      <p:sp>
        <p:nvSpPr>
          <p:cNvPr id="21" name="TextBox 20">
            <a:extLst>
              <a:ext uri="{FF2B5EF4-FFF2-40B4-BE49-F238E27FC236}">
                <a16:creationId xmlns:a16="http://schemas.microsoft.com/office/drawing/2014/main" id="{7CE3EBD4-7D8F-B9A9-C169-BE75BAAF7648}"/>
              </a:ext>
            </a:extLst>
          </p:cNvPr>
          <p:cNvSpPr txBox="1"/>
          <p:nvPr/>
        </p:nvSpPr>
        <p:spPr>
          <a:xfrm>
            <a:off x="494405" y="5754856"/>
            <a:ext cx="846707" cy="253916"/>
          </a:xfrm>
          <a:prstGeom prst="rect">
            <a:avLst/>
          </a:prstGeom>
          <a:noFill/>
        </p:spPr>
        <p:txBody>
          <a:bodyPr wrap="none" rtlCol="0">
            <a:spAutoFit/>
          </a:bodyPr>
          <a:lstStyle/>
          <a:p>
            <a:pPr algn="ctr"/>
            <a:r>
              <a:rPr lang="en-US" sz="1000" dirty="0">
                <a:latin typeface="Alliance No.2 Light" panose="00000400000000000000" pitchFamily="50" charset="0"/>
                <a:ea typeface="JetBrainsMono NF Light" panose="02000009000000000000" pitchFamily="50" charset="0"/>
                <a:cs typeface="JetBrainsMono NF Light" panose="02000009000000000000" pitchFamily="50" charset="0"/>
              </a:rPr>
              <a:t>CB013366</a:t>
            </a:r>
          </a:p>
        </p:txBody>
      </p:sp>
      <p:sp>
        <p:nvSpPr>
          <p:cNvPr id="22" name="TextBox 21">
            <a:extLst>
              <a:ext uri="{FF2B5EF4-FFF2-40B4-BE49-F238E27FC236}">
                <a16:creationId xmlns:a16="http://schemas.microsoft.com/office/drawing/2014/main" id="{BFD5073A-82CF-876D-F2E7-DBE96F680ECA}"/>
              </a:ext>
            </a:extLst>
          </p:cNvPr>
          <p:cNvSpPr txBox="1"/>
          <p:nvPr/>
        </p:nvSpPr>
        <p:spPr>
          <a:xfrm>
            <a:off x="494405" y="6008772"/>
            <a:ext cx="2020104" cy="246221"/>
          </a:xfrm>
          <a:prstGeom prst="rect">
            <a:avLst/>
          </a:prstGeom>
          <a:noFill/>
        </p:spPr>
        <p:txBody>
          <a:bodyPr wrap="none" rtlCol="0">
            <a:spAutoFit/>
          </a:bodyPr>
          <a:lstStyle/>
          <a:p>
            <a:pPr algn="ctr"/>
            <a:r>
              <a:rPr lang="en-US" sz="1000" dirty="0">
                <a:latin typeface="Alliance No.2 Light" panose="00000400000000000000" pitchFamily="50" charset="0"/>
                <a:ea typeface="JetBrainsMono NF Light" panose="02000009000000000000" pitchFamily="50" charset="0"/>
                <a:cs typeface="JetBrainsMono NF Light" panose="02000009000000000000" pitchFamily="50" charset="0"/>
              </a:rPr>
              <a:t>BSc (hons) Computer Science</a:t>
            </a:r>
          </a:p>
        </p:txBody>
      </p:sp>
    </p:spTree>
    <p:extLst>
      <p:ext uri="{BB962C8B-B14F-4D97-AF65-F5344CB8AC3E}">
        <p14:creationId xmlns:p14="http://schemas.microsoft.com/office/powerpoint/2010/main" val="88117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666AE-1D92-0C73-7923-487C67E49D2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1C1CC6-FA07-64E7-AE24-C772A572A598}"/>
              </a:ext>
            </a:extLst>
          </p:cNvPr>
          <p:cNvSpPr txBox="1"/>
          <p:nvPr/>
        </p:nvSpPr>
        <p:spPr>
          <a:xfrm>
            <a:off x="523493" y="574286"/>
            <a:ext cx="5425361" cy="400110"/>
          </a:xfrm>
          <a:prstGeom prst="rect">
            <a:avLst/>
          </a:prstGeom>
          <a:noFill/>
        </p:spPr>
        <p:txBody>
          <a:bodyPr wrap="square">
            <a:spAutoFit/>
          </a:bodyPr>
          <a:lstStyle/>
          <a:p>
            <a:r>
              <a:rPr lang="en-US" sz="2000" dirty="0">
                <a:latin typeface="VCR OSD Mono" panose="02000609000000000000" pitchFamily="49" charset="0"/>
              </a:rPr>
              <a:t>CONTEXT &amp; ORGANIZATIONAL OVERVIEW</a:t>
            </a:r>
          </a:p>
        </p:txBody>
      </p:sp>
      <p:pic>
        <p:nvPicPr>
          <p:cNvPr id="9" name="Picture 8">
            <a:extLst>
              <a:ext uri="{FF2B5EF4-FFF2-40B4-BE49-F238E27FC236}">
                <a16:creationId xmlns:a16="http://schemas.microsoft.com/office/drawing/2014/main" id="{9B0077C8-D5B8-CE61-63E6-9FE77F596C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8019" y="3429000"/>
            <a:ext cx="2472767" cy="2709073"/>
          </a:xfrm>
          <a:prstGeom prst="rect">
            <a:avLst/>
          </a:prstGeom>
        </p:spPr>
      </p:pic>
      <p:sp>
        <p:nvSpPr>
          <p:cNvPr id="12" name="Rectangle 1">
            <a:extLst>
              <a:ext uri="{FF2B5EF4-FFF2-40B4-BE49-F238E27FC236}">
                <a16:creationId xmlns:a16="http://schemas.microsoft.com/office/drawing/2014/main" id="{0246BF3F-D245-0E44-0FA6-67516D880E22}"/>
              </a:ext>
            </a:extLst>
          </p:cNvPr>
          <p:cNvSpPr>
            <a:spLocks noChangeArrowheads="1"/>
          </p:cNvSpPr>
          <p:nvPr/>
        </p:nvSpPr>
        <p:spPr bwMode="auto">
          <a:xfrm>
            <a:off x="651891" y="1454854"/>
            <a:ext cx="6011668" cy="5196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200000"/>
              </a:lnSpc>
              <a:spcBef>
                <a:spcPct val="0"/>
              </a:spcBef>
              <a:spcAft>
                <a:spcPct val="0"/>
              </a:spcAft>
            </a:pPr>
            <a:r>
              <a:rPr lang="en-US" sz="1200" b="1" dirty="0">
                <a:latin typeface="Alliance No.2 Light" panose="00000400000000000000" pitchFamily="50" charset="0"/>
                <a:ea typeface="JetBrainsMono NF" panose="02000009000000000000" pitchFamily="50" charset="0"/>
                <a:cs typeface="JetBrainsMono NF" panose="02000009000000000000" pitchFamily="50" charset="0"/>
              </a:rPr>
              <a:t>Client:</a:t>
            </a:r>
            <a:r>
              <a:rPr lang="en-US" sz="1200" dirty="0">
                <a:latin typeface="Alliance No.2 Light" panose="00000400000000000000" pitchFamily="50" charset="0"/>
                <a:ea typeface="JetBrainsMono NF" panose="02000009000000000000" pitchFamily="50" charset="0"/>
                <a:cs typeface="JetBrainsMono NF" panose="02000009000000000000" pitchFamily="50" charset="0"/>
              </a:rPr>
              <a:t> Sri Lanka Police (SLP) – Primary law enforcement agency.</a:t>
            </a:r>
          </a:p>
          <a:p>
            <a:pPr marL="0" marR="0" lvl="0" indent="0" algn="just" defTabSz="914400" rtl="0" eaLnBrk="0" fontAlgn="base" latinLnBrk="0" hangingPunct="0">
              <a:lnSpc>
                <a:spcPct val="2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The Data Problem:</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Volume:</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Processing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214k+</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biometric records annually.</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Siloed Systems:</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Data trapped in physical "Complaint Books" and disconnected digital systems (CEMS, AMIS).</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High Latency:</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Manual fingerprint transport from rural stations to Colombo takes days.</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lvl="0" algn="just" eaLnBrk="0" fontAlgn="base" hangingPunct="0">
              <a:lnSpc>
                <a:spcPct val="200000"/>
              </a:lnSpc>
              <a:spcBef>
                <a:spcPct val="0"/>
              </a:spcBef>
              <a:spcAft>
                <a:spcPct val="0"/>
              </a:spcAft>
            </a:pPr>
            <a:r>
              <a:rPr lang="en-US" altLang="en-US" sz="1200" b="1" dirty="0">
                <a:latin typeface="Alliance No.2 Light" panose="00000400000000000000" pitchFamily="50" charset="0"/>
                <a:ea typeface="JetBrainsMono NF" panose="02000009000000000000" pitchFamily="50" charset="0"/>
                <a:cs typeface="JetBrainsMono NF" panose="02000009000000000000" pitchFamily="50" charset="0"/>
              </a:rPr>
              <a:t>Operational Pain Point:</a:t>
            </a:r>
            <a:endParaRPr lang="en-US" altLang="en-US" sz="1200" dirty="0">
              <a:latin typeface="Alliance No.2 Light" panose="00000400000000000000" pitchFamily="50" charset="0"/>
              <a:ea typeface="JetBrainsMono NF" panose="02000009000000000000" pitchFamily="50" charset="0"/>
              <a:cs typeface="JetBrainsMono NF" panose="02000009000000000000" pitchFamily="50" charset="0"/>
            </a:endParaRPr>
          </a:p>
          <a:p>
            <a:pPr marL="285750" lvl="0" indent="-285750" algn="just" eaLnBrk="0" fontAlgn="base" hangingPunct="0">
              <a:lnSpc>
                <a:spcPct val="200000"/>
              </a:lnSpc>
              <a:spcBef>
                <a:spcPct val="0"/>
              </a:spcBef>
              <a:spcAft>
                <a:spcPct val="0"/>
              </a:spcAft>
              <a:buFont typeface="Arial" panose="020B0604020202020204" pitchFamily="34" charset="0"/>
              <a:buChar char="•"/>
            </a:pPr>
            <a:r>
              <a:rPr lang="en-US" altLang="en-US" sz="1200" dirty="0">
                <a:latin typeface="Alliance No.2 Light" panose="00000400000000000000" pitchFamily="50" charset="0"/>
                <a:ea typeface="JetBrainsMono NF" panose="02000009000000000000" pitchFamily="50" charset="0"/>
                <a:cs typeface="JetBrainsMono NF" panose="02000009000000000000" pitchFamily="50" charset="0"/>
              </a:rPr>
              <a:t>Severe human resource crisis: </a:t>
            </a:r>
            <a:r>
              <a:rPr lang="en-US" altLang="en-US" sz="1200" b="1" dirty="0">
                <a:latin typeface="Alliance No.2 Light" panose="00000400000000000000" pitchFamily="50" charset="0"/>
                <a:ea typeface="JetBrainsMono NF" panose="02000009000000000000" pitchFamily="50" charset="0"/>
                <a:cs typeface="JetBrainsMono NF" panose="02000009000000000000" pitchFamily="50" charset="0"/>
              </a:rPr>
              <a:t>22,381 officer vacancy</a:t>
            </a:r>
            <a:r>
              <a:rPr lang="en-US" altLang="en-US" sz="1200" dirty="0">
                <a:latin typeface="Alliance No.2 Light" panose="00000400000000000000" pitchFamily="50" charset="0"/>
                <a:ea typeface="JetBrainsMono NF" panose="02000009000000000000" pitchFamily="50" charset="0"/>
                <a:cs typeface="JetBrainsMono NF" panose="02000009000000000000" pitchFamily="50" charset="0"/>
              </a:rPr>
              <a:t> (25% deficit).</a:t>
            </a:r>
          </a:p>
          <a:p>
            <a:pPr marL="285750" lvl="0" indent="-285750" algn="just" eaLnBrk="0" fontAlgn="base" hangingPunct="0">
              <a:lnSpc>
                <a:spcPct val="200000"/>
              </a:lnSpc>
              <a:spcBef>
                <a:spcPct val="0"/>
              </a:spcBef>
              <a:spcAft>
                <a:spcPct val="0"/>
              </a:spcAft>
              <a:buFont typeface="Arial" panose="020B0604020202020204" pitchFamily="34" charset="0"/>
              <a:buChar char="•"/>
            </a:pPr>
            <a:r>
              <a:rPr lang="en-US" altLang="en-US" sz="1200" dirty="0">
                <a:latin typeface="Alliance No.2 Light" panose="00000400000000000000" pitchFamily="50" charset="0"/>
                <a:ea typeface="JetBrainsMono NF" panose="02000009000000000000" pitchFamily="50" charset="0"/>
                <a:cs typeface="JetBrainsMono NF" panose="02000009000000000000" pitchFamily="50" charset="0"/>
              </a:rPr>
              <a:t>Urgent need for "Force Multiplication" via predictive intelligence.</a:t>
            </a:r>
          </a:p>
          <a:p>
            <a:pPr marR="0" lvl="0" algn="just" defTabSz="914400" rtl="0" eaLnBrk="0" fontAlgn="base" latinLnBrk="0" hangingPunct="0">
              <a:lnSpc>
                <a:spcPct val="2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2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p:txBody>
      </p:sp>
      <p:pic>
        <p:nvPicPr>
          <p:cNvPr id="15" name="Picture 14">
            <a:extLst>
              <a:ext uri="{FF2B5EF4-FFF2-40B4-BE49-F238E27FC236}">
                <a16:creationId xmlns:a16="http://schemas.microsoft.com/office/drawing/2014/main" id="{BBEBF2DC-2458-0617-553F-A1155B8C54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94190" y="699563"/>
            <a:ext cx="3400426" cy="2304637"/>
          </a:xfrm>
          <a:prstGeom prst="rect">
            <a:avLst/>
          </a:prstGeom>
        </p:spPr>
      </p:pic>
    </p:spTree>
    <p:extLst>
      <p:ext uri="{BB962C8B-B14F-4D97-AF65-F5344CB8AC3E}">
        <p14:creationId xmlns:p14="http://schemas.microsoft.com/office/powerpoint/2010/main" val="131399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78036-6425-D20F-6A71-46DA45D4BC4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F1CD5AF-4660-186E-5378-B246B6D92BCE}"/>
              </a:ext>
            </a:extLst>
          </p:cNvPr>
          <p:cNvSpPr txBox="1"/>
          <p:nvPr/>
        </p:nvSpPr>
        <p:spPr>
          <a:xfrm>
            <a:off x="526472" y="577334"/>
            <a:ext cx="6147597" cy="400110"/>
          </a:xfrm>
          <a:prstGeom prst="rect">
            <a:avLst/>
          </a:prstGeom>
          <a:noFill/>
        </p:spPr>
        <p:txBody>
          <a:bodyPr wrap="square">
            <a:spAutoFit/>
          </a:bodyPr>
          <a:lstStyle/>
          <a:p>
            <a:r>
              <a:rPr lang="en-US" sz="2000" dirty="0">
                <a:latin typeface="VCR OSD Mono" panose="02000609000000000000" pitchFamily="49" charset="0"/>
              </a:rPr>
              <a:t>PROBLEM DEFINITION</a:t>
            </a:r>
          </a:p>
        </p:txBody>
      </p:sp>
      <p:sp>
        <p:nvSpPr>
          <p:cNvPr id="6" name="Rectangle 1">
            <a:extLst>
              <a:ext uri="{FF2B5EF4-FFF2-40B4-BE49-F238E27FC236}">
                <a16:creationId xmlns:a16="http://schemas.microsoft.com/office/drawing/2014/main" id="{078F628A-7EA4-E926-9F67-190C1C719160}"/>
              </a:ext>
            </a:extLst>
          </p:cNvPr>
          <p:cNvSpPr>
            <a:spLocks noChangeArrowheads="1"/>
          </p:cNvSpPr>
          <p:nvPr/>
        </p:nvSpPr>
        <p:spPr bwMode="auto">
          <a:xfrm>
            <a:off x="604599" y="1373461"/>
            <a:ext cx="6962850" cy="4827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Core Issue: Reactive Policing</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171450" marR="0" lvl="0" indent="-1714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Current systems (CEMS/AMIS) operate on a "storage-centric" model.</a:t>
            </a:r>
          </a:p>
          <a:p>
            <a:pPr marL="171450" marR="0" lvl="0" indent="-1714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We currently identify a repeat offender only </a:t>
            </a: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after</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they commit a second crime and are processed manually.</a:t>
            </a:r>
          </a:p>
          <a:p>
            <a:pPr marL="171450" marR="0" lvl="0" indent="-1714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lvl="0" eaLnBrk="0" fontAlgn="base" hangingPunct="0">
              <a:lnSpc>
                <a:spcPct val="200000"/>
              </a:lnSpc>
              <a:spcBef>
                <a:spcPct val="0"/>
              </a:spcBef>
              <a:spcAft>
                <a:spcPct val="0"/>
              </a:spcAft>
            </a:pPr>
            <a:r>
              <a:rPr lang="en-US" altLang="en-US" sz="1200" b="1" dirty="0">
                <a:latin typeface="Alliance No.2 Light" panose="00000400000000000000" pitchFamily="50" charset="0"/>
                <a:ea typeface="JetBrainsMono NF" panose="02000009000000000000" pitchFamily="50" charset="0"/>
                <a:cs typeface="JetBrainsMono NF" panose="02000009000000000000" pitchFamily="50" charset="0"/>
              </a:rPr>
              <a:t>Missing Capability: No Predictive Risk Scoring</a:t>
            </a:r>
            <a:endParaRPr lang="en-US" altLang="en-US" sz="1200" dirty="0">
              <a:latin typeface="Alliance No.2 Light" panose="00000400000000000000" pitchFamily="50" charset="0"/>
              <a:ea typeface="JetBrainsMono NF" panose="02000009000000000000" pitchFamily="50" charset="0"/>
              <a:cs typeface="JetBrainsMono NF" panose="02000009000000000000" pitchFamily="50" charset="0"/>
            </a:endParaRPr>
          </a:p>
          <a:p>
            <a:pPr marL="171450" lvl="0" indent="-171450" eaLnBrk="0" fontAlgn="base" hangingPunct="0">
              <a:lnSpc>
                <a:spcPct val="200000"/>
              </a:lnSpc>
              <a:spcBef>
                <a:spcPct val="0"/>
              </a:spcBef>
              <a:spcAft>
                <a:spcPct val="0"/>
              </a:spcAft>
              <a:buFont typeface="Arial" panose="020B0604020202020204" pitchFamily="34" charset="0"/>
              <a:buChar char="•"/>
            </a:pPr>
            <a:r>
              <a:rPr lang="en-US" altLang="en-US" sz="1200" dirty="0">
                <a:latin typeface="Alliance No.2 Light" panose="00000400000000000000" pitchFamily="50" charset="0"/>
                <a:ea typeface="JetBrainsMono NF" panose="02000009000000000000" pitchFamily="50" charset="0"/>
                <a:cs typeface="JetBrainsMono NF" panose="02000009000000000000" pitchFamily="50" charset="0"/>
              </a:rPr>
              <a:t>27,000 criminals registered in 2024, but only 2,735 identified as "Island Reconvicted Criminals" (IRC).</a:t>
            </a:r>
          </a:p>
          <a:p>
            <a:pPr marL="171450" lvl="0" indent="-171450" eaLnBrk="0" fontAlgn="base" hangingPunct="0">
              <a:lnSpc>
                <a:spcPct val="200000"/>
              </a:lnSpc>
              <a:spcBef>
                <a:spcPct val="0"/>
              </a:spcBef>
              <a:spcAft>
                <a:spcPct val="0"/>
              </a:spcAft>
              <a:buFont typeface="Arial" panose="020B0604020202020204" pitchFamily="34" charset="0"/>
              <a:buChar char="•"/>
            </a:pPr>
            <a:r>
              <a:rPr lang="en-US" altLang="en-US" sz="1200" dirty="0">
                <a:latin typeface="Alliance No.2 Light" panose="00000400000000000000" pitchFamily="50" charset="0"/>
                <a:ea typeface="JetBrainsMono NF" panose="02000009000000000000" pitchFamily="50" charset="0"/>
                <a:cs typeface="JetBrainsMono NF" panose="02000009000000000000" pitchFamily="50" charset="0"/>
              </a:rPr>
              <a:t>Officers lack a statistical tool to identify the high-risk minority among the remaining suspects.</a:t>
            </a:r>
          </a:p>
          <a:p>
            <a:pPr lvl="0" eaLnBrk="0" fontAlgn="base" hangingPunct="0">
              <a:lnSpc>
                <a:spcPct val="200000"/>
              </a:lnSpc>
              <a:spcBef>
                <a:spcPct val="0"/>
              </a:spcBef>
              <a:spcAft>
                <a:spcPct val="0"/>
              </a:spcAft>
            </a:pPr>
            <a:endParaRPr lang="en-US" altLang="en-US" sz="1200" dirty="0">
              <a:latin typeface="Alliance No.2 Light" panose="00000400000000000000" pitchFamily="50" charset="0"/>
              <a:ea typeface="JetBrainsMono NF" panose="02000009000000000000" pitchFamily="50" charset="0"/>
              <a:cs typeface="JetBrainsMono NF" panose="02000009000000000000" pitchFamily="50" charset="0"/>
            </a:endParaRPr>
          </a:p>
          <a:p>
            <a:pPr>
              <a:lnSpc>
                <a:spcPct val="200000"/>
              </a:lnSpc>
              <a:buNone/>
            </a:pPr>
            <a:r>
              <a:rPr lang="en-US" sz="1200" b="1" dirty="0">
                <a:latin typeface="Alliance No.2 Light" panose="00000400000000000000" pitchFamily="50" charset="0"/>
                <a:ea typeface="JetBrainsMono NF" panose="02000009000000000000" pitchFamily="50" charset="0"/>
                <a:cs typeface="JetBrainsMono NF" panose="02000009000000000000" pitchFamily="50" charset="0"/>
              </a:rPr>
              <a:t>Research Question:</a:t>
            </a:r>
            <a:endParaRPr lang="en-US" sz="1200" dirty="0">
              <a:latin typeface="Alliance No.2 Light" panose="00000400000000000000" pitchFamily="50" charset="0"/>
              <a:ea typeface="JetBrainsMono NF" panose="02000009000000000000" pitchFamily="50" charset="0"/>
              <a:cs typeface="JetBrainsMono NF" panose="02000009000000000000" pitchFamily="50" charset="0"/>
            </a:endParaRPr>
          </a:p>
          <a:p>
            <a:pPr>
              <a:lnSpc>
                <a:spcPct val="200000"/>
              </a:lnSpc>
            </a:pPr>
            <a:r>
              <a:rPr lang="en-US" sz="1200" i="1" dirty="0">
                <a:latin typeface="Alliance No.2 Light" panose="00000400000000000000" pitchFamily="50" charset="0"/>
                <a:ea typeface="JetBrainsMono NF" panose="02000009000000000000" pitchFamily="50" charset="0"/>
                <a:cs typeface="JetBrainsMono NF" panose="02000009000000000000" pitchFamily="50" charset="0"/>
              </a:rPr>
              <a:t>"How can we utilize historical arrest data and biometrics to predict the probability of re-offending (Recidivism)?"</a:t>
            </a:r>
            <a:r>
              <a:rPr lang="en-US" sz="1200" dirty="0">
                <a:latin typeface="Alliance No.2 Light" panose="00000400000000000000" pitchFamily="50" charset="0"/>
                <a:ea typeface="JetBrainsMono NF" panose="02000009000000000000" pitchFamily="50" charset="0"/>
                <a:cs typeface="JetBrainsMono NF" panose="02000009000000000000" pitchFamily="50" charset="0"/>
              </a:rPr>
              <a:t>.</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p:txBody>
      </p:sp>
      <p:pic>
        <p:nvPicPr>
          <p:cNvPr id="11" name="Picture 10">
            <a:extLst>
              <a:ext uri="{FF2B5EF4-FFF2-40B4-BE49-F238E27FC236}">
                <a16:creationId xmlns:a16="http://schemas.microsoft.com/office/drawing/2014/main" id="{E0B7F01A-2A67-6D0A-0EDA-0AA06BEDC4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1601" y="772021"/>
            <a:ext cx="3375801" cy="5313958"/>
          </a:xfrm>
          <a:prstGeom prst="rect">
            <a:avLst/>
          </a:prstGeom>
        </p:spPr>
      </p:pic>
      <p:sp>
        <p:nvSpPr>
          <p:cNvPr id="13" name="TextBox 12">
            <a:extLst>
              <a:ext uri="{FF2B5EF4-FFF2-40B4-BE49-F238E27FC236}">
                <a16:creationId xmlns:a16="http://schemas.microsoft.com/office/drawing/2014/main" id="{07457FD7-E05F-D9AB-B174-2227A8F313FB}"/>
              </a:ext>
            </a:extLst>
          </p:cNvPr>
          <p:cNvSpPr txBox="1"/>
          <p:nvPr/>
        </p:nvSpPr>
        <p:spPr>
          <a:xfrm>
            <a:off x="8682181" y="6611779"/>
            <a:ext cx="3509819" cy="246221"/>
          </a:xfrm>
          <a:prstGeom prst="rect">
            <a:avLst/>
          </a:prstGeom>
          <a:noFill/>
        </p:spPr>
        <p:txBody>
          <a:bodyPr wrap="square">
            <a:spAutoFit/>
          </a:bodyPr>
          <a:lstStyle/>
          <a:p>
            <a:r>
              <a:rPr lang="fi-FI" sz="1000" i="1" dirty="0"/>
              <a:t>(Sri Lanka Police, 2024; Haidar, 2025; Kovalchuk et al., 2024)</a:t>
            </a:r>
            <a:endParaRPr lang="en-US" sz="1000" i="1" dirty="0"/>
          </a:p>
        </p:txBody>
      </p:sp>
      <p:sp>
        <p:nvSpPr>
          <p:cNvPr id="4" name="TextBox 3">
            <a:extLst>
              <a:ext uri="{FF2B5EF4-FFF2-40B4-BE49-F238E27FC236}">
                <a16:creationId xmlns:a16="http://schemas.microsoft.com/office/drawing/2014/main" id="{EC8B8A27-4376-7675-9080-5C0FBCF4B8D3}"/>
              </a:ext>
            </a:extLst>
          </p:cNvPr>
          <p:cNvSpPr txBox="1"/>
          <p:nvPr/>
        </p:nvSpPr>
        <p:spPr>
          <a:xfrm>
            <a:off x="526472" y="929231"/>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THE ANALYTICAL GAP</a:t>
            </a:r>
          </a:p>
        </p:txBody>
      </p:sp>
    </p:spTree>
    <p:extLst>
      <p:ext uri="{BB962C8B-B14F-4D97-AF65-F5344CB8AC3E}">
        <p14:creationId xmlns:p14="http://schemas.microsoft.com/office/powerpoint/2010/main" val="459122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8988-277C-3C21-1A60-8F539FCC65FA}"/>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92C2B5B2-0809-CDFB-92A1-BEE8DA882C3D}"/>
              </a:ext>
            </a:extLst>
          </p:cNvPr>
          <p:cNvSpPr/>
          <p:nvPr/>
        </p:nvSpPr>
        <p:spPr>
          <a:xfrm>
            <a:off x="11256580" y="136635"/>
            <a:ext cx="798786" cy="798786"/>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LO1</a:t>
            </a:r>
          </a:p>
        </p:txBody>
      </p:sp>
      <p:sp>
        <p:nvSpPr>
          <p:cNvPr id="4" name="TextBox 3">
            <a:extLst>
              <a:ext uri="{FF2B5EF4-FFF2-40B4-BE49-F238E27FC236}">
                <a16:creationId xmlns:a16="http://schemas.microsoft.com/office/drawing/2014/main" id="{8666B8A2-65AD-68DD-3CF6-3EE9B26CAD3E}"/>
              </a:ext>
            </a:extLst>
          </p:cNvPr>
          <p:cNvSpPr txBox="1"/>
          <p:nvPr/>
        </p:nvSpPr>
        <p:spPr>
          <a:xfrm>
            <a:off x="525517" y="566089"/>
            <a:ext cx="4120055" cy="400110"/>
          </a:xfrm>
          <a:prstGeom prst="rect">
            <a:avLst/>
          </a:prstGeom>
          <a:noFill/>
        </p:spPr>
        <p:txBody>
          <a:bodyPr wrap="square">
            <a:spAutoFit/>
          </a:bodyPr>
          <a:lstStyle/>
          <a:p>
            <a:r>
              <a:rPr lang="en-US" sz="2000" dirty="0">
                <a:latin typeface="VCR OSD Mono" panose="02000609000000000000" pitchFamily="49" charset="0"/>
              </a:rPr>
              <a:t>THE KDD PROCESS</a:t>
            </a:r>
          </a:p>
        </p:txBody>
      </p:sp>
      <p:sp>
        <p:nvSpPr>
          <p:cNvPr id="6" name="TextBox 5">
            <a:extLst>
              <a:ext uri="{FF2B5EF4-FFF2-40B4-BE49-F238E27FC236}">
                <a16:creationId xmlns:a16="http://schemas.microsoft.com/office/drawing/2014/main" id="{7A0C2A4B-834E-C9A8-2A78-61842167E8A1}"/>
              </a:ext>
            </a:extLst>
          </p:cNvPr>
          <p:cNvSpPr txBox="1"/>
          <p:nvPr/>
        </p:nvSpPr>
        <p:spPr>
          <a:xfrm>
            <a:off x="525517" y="935421"/>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Turning Raw Police Data into Intelligence</a:t>
            </a:r>
          </a:p>
        </p:txBody>
      </p:sp>
      <p:pic>
        <p:nvPicPr>
          <p:cNvPr id="8" name="Picture 7">
            <a:extLst>
              <a:ext uri="{FF2B5EF4-FFF2-40B4-BE49-F238E27FC236}">
                <a16:creationId xmlns:a16="http://schemas.microsoft.com/office/drawing/2014/main" id="{3AE93B0D-1766-EFFC-7151-A0BBBF4D3A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0582" y="1058531"/>
            <a:ext cx="2455584" cy="4976360"/>
          </a:xfrm>
          <a:prstGeom prst="rect">
            <a:avLst/>
          </a:prstGeom>
        </p:spPr>
      </p:pic>
      <p:sp>
        <p:nvSpPr>
          <p:cNvPr id="10" name="TextBox 9">
            <a:extLst>
              <a:ext uri="{FF2B5EF4-FFF2-40B4-BE49-F238E27FC236}">
                <a16:creationId xmlns:a16="http://schemas.microsoft.com/office/drawing/2014/main" id="{7355EB55-FB9E-1131-A38A-2D22C7C7E099}"/>
              </a:ext>
            </a:extLst>
          </p:cNvPr>
          <p:cNvSpPr txBox="1"/>
          <p:nvPr/>
        </p:nvSpPr>
        <p:spPr>
          <a:xfrm>
            <a:off x="1051033" y="1639352"/>
            <a:ext cx="5570484" cy="1133708"/>
          </a:xfrm>
          <a:prstGeom prst="rect">
            <a:avLst/>
          </a:prstGeom>
          <a:noFill/>
        </p:spPr>
        <p:txBody>
          <a:bodyPr wrap="square">
            <a:spAutoFit/>
          </a:bodyPr>
          <a:lstStyle/>
          <a:p>
            <a:pPr>
              <a:lnSpc>
                <a:spcPct val="200000"/>
              </a:lnSpc>
            </a:pPr>
            <a:r>
              <a:rPr lang="en-US" sz="1200" b="1" dirty="0">
                <a:latin typeface="Alliance No.2 Light" panose="00000400000000000000" pitchFamily="50" charset="0"/>
                <a:ea typeface="JetBrainsMono NF" panose="02000009000000000000" pitchFamily="50" charset="0"/>
                <a:cs typeface="JetBrainsMono NF" panose="02000009000000000000" pitchFamily="50" charset="0"/>
              </a:rPr>
              <a:t>Concept</a:t>
            </a:r>
            <a:endParaRPr lang="en-US" sz="1200" dirty="0">
              <a:latin typeface="Alliance No.2 Light" panose="00000400000000000000" pitchFamily="50" charset="0"/>
              <a:ea typeface="JetBrainsMono NF" panose="02000009000000000000" pitchFamily="50" charset="0"/>
              <a:cs typeface="JetBrainsMono NF" panose="02000009000000000000" pitchFamily="50" charset="0"/>
            </a:endParaRPr>
          </a:p>
          <a:p>
            <a:pPr>
              <a:lnSpc>
                <a:spcPct val="200000"/>
              </a:lnSpc>
            </a:pPr>
            <a:r>
              <a:rPr lang="en-US" sz="1200" dirty="0">
                <a:latin typeface="Alliance No.2 Light" panose="00000400000000000000" pitchFamily="50" charset="0"/>
                <a:ea typeface="JetBrainsMono NF" panose="02000009000000000000" pitchFamily="50" charset="0"/>
                <a:cs typeface="JetBrainsMono NF" panose="02000009000000000000" pitchFamily="50" charset="0"/>
              </a:rPr>
              <a:t>KDD is the process of turning low-level messy data into high-level actionable knowledge.</a:t>
            </a:r>
          </a:p>
        </p:txBody>
      </p:sp>
      <p:sp>
        <p:nvSpPr>
          <p:cNvPr id="11" name="Rectangle 1">
            <a:extLst>
              <a:ext uri="{FF2B5EF4-FFF2-40B4-BE49-F238E27FC236}">
                <a16:creationId xmlns:a16="http://schemas.microsoft.com/office/drawing/2014/main" id="{4FDF138F-AAFF-D576-CEF4-30EB3017D7EB}"/>
              </a:ext>
            </a:extLst>
          </p:cNvPr>
          <p:cNvSpPr>
            <a:spLocks noChangeArrowheads="1"/>
          </p:cNvSpPr>
          <p:nvPr/>
        </p:nvSpPr>
        <p:spPr bwMode="auto">
          <a:xfrm>
            <a:off x="1051033" y="3311543"/>
            <a:ext cx="5570484" cy="2980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2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Application to Sri Lanka Police</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Raw Data:</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214,794 annual fingerprint images (Unstructured) + CEMS text records (Structured).</a:t>
            </a:r>
          </a:p>
          <a:p>
            <a:pPr marL="285750" marR="0" lvl="0" indent="-285750"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Transformation:</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Converting visual biometric data into a numerical "Risk Score".</a:t>
            </a:r>
          </a:p>
          <a:p>
            <a:pPr marL="285750" marR="0" lvl="0" indent="-285750"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Knowledge:</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The final output is not just data, but an alert: </a:t>
            </a: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"High Risk of Recidivism"</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t>
            </a:r>
          </a:p>
          <a:p>
            <a:pPr marL="0" marR="0" lvl="0" indent="0" defTabSz="914400" rtl="0" eaLnBrk="0" fontAlgn="base" latinLnBrk="0" hangingPunct="0">
              <a:lnSpc>
                <a:spcPct val="2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p:txBody>
      </p:sp>
      <p:sp>
        <p:nvSpPr>
          <p:cNvPr id="13" name="TextBox 12">
            <a:extLst>
              <a:ext uri="{FF2B5EF4-FFF2-40B4-BE49-F238E27FC236}">
                <a16:creationId xmlns:a16="http://schemas.microsoft.com/office/drawing/2014/main" id="{929C130F-0C6B-884E-8F57-E3F6CB69A407}"/>
              </a:ext>
            </a:extLst>
          </p:cNvPr>
          <p:cNvSpPr txBox="1"/>
          <p:nvPr/>
        </p:nvSpPr>
        <p:spPr>
          <a:xfrm>
            <a:off x="9272226" y="6611779"/>
            <a:ext cx="2919774" cy="246221"/>
          </a:xfrm>
          <a:prstGeom prst="rect">
            <a:avLst/>
          </a:prstGeom>
          <a:noFill/>
        </p:spPr>
        <p:txBody>
          <a:bodyPr wrap="square">
            <a:spAutoFit/>
          </a:bodyPr>
          <a:lstStyle/>
          <a:p>
            <a:r>
              <a:rPr lang="fi-FI" sz="1000" i="1" dirty="0"/>
              <a:t>(Sri Lanka Police, 2024; Huamantingo et al., 2025)</a:t>
            </a:r>
            <a:endParaRPr lang="en-US" sz="1000" i="1" dirty="0"/>
          </a:p>
        </p:txBody>
      </p:sp>
    </p:spTree>
    <p:extLst>
      <p:ext uri="{BB962C8B-B14F-4D97-AF65-F5344CB8AC3E}">
        <p14:creationId xmlns:p14="http://schemas.microsoft.com/office/powerpoint/2010/main" val="3623926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AE6B3-1B02-A2B9-753B-4A63B59053BF}"/>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F046D886-CC29-CDA9-4744-456163F8809F}"/>
              </a:ext>
            </a:extLst>
          </p:cNvPr>
          <p:cNvSpPr/>
          <p:nvPr/>
        </p:nvSpPr>
        <p:spPr>
          <a:xfrm>
            <a:off x="11256580" y="136635"/>
            <a:ext cx="798786" cy="798786"/>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LO1</a:t>
            </a:r>
          </a:p>
        </p:txBody>
      </p:sp>
      <p:sp>
        <p:nvSpPr>
          <p:cNvPr id="4" name="TextBox 3">
            <a:extLst>
              <a:ext uri="{FF2B5EF4-FFF2-40B4-BE49-F238E27FC236}">
                <a16:creationId xmlns:a16="http://schemas.microsoft.com/office/drawing/2014/main" id="{3561F026-D94C-3C2E-4BFB-8957B94B0236}"/>
              </a:ext>
            </a:extLst>
          </p:cNvPr>
          <p:cNvSpPr txBox="1"/>
          <p:nvPr/>
        </p:nvSpPr>
        <p:spPr>
          <a:xfrm>
            <a:off x="504496" y="566089"/>
            <a:ext cx="6096000" cy="400110"/>
          </a:xfrm>
          <a:prstGeom prst="rect">
            <a:avLst/>
          </a:prstGeom>
          <a:noFill/>
        </p:spPr>
        <p:txBody>
          <a:bodyPr wrap="square">
            <a:spAutoFit/>
          </a:bodyPr>
          <a:lstStyle/>
          <a:p>
            <a:r>
              <a:rPr lang="en-US" sz="2000" dirty="0">
                <a:latin typeface="VCR OSD Mono" panose="02000609000000000000" pitchFamily="49" charset="0"/>
              </a:rPr>
              <a:t>BIG DATA ANALYTICS</a:t>
            </a:r>
          </a:p>
        </p:txBody>
      </p:sp>
      <p:sp>
        <p:nvSpPr>
          <p:cNvPr id="6" name="TextBox 5">
            <a:extLst>
              <a:ext uri="{FF2B5EF4-FFF2-40B4-BE49-F238E27FC236}">
                <a16:creationId xmlns:a16="http://schemas.microsoft.com/office/drawing/2014/main" id="{22B36F4F-B004-84D6-6F1E-02C357490D1E}"/>
              </a:ext>
            </a:extLst>
          </p:cNvPr>
          <p:cNvSpPr txBox="1"/>
          <p:nvPr/>
        </p:nvSpPr>
        <p:spPr>
          <a:xfrm>
            <a:off x="504496" y="935421"/>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The 4 Vs in Sri Lanka Police Data</a:t>
            </a:r>
          </a:p>
        </p:txBody>
      </p:sp>
      <p:pic>
        <p:nvPicPr>
          <p:cNvPr id="8" name="Picture 7">
            <a:extLst>
              <a:ext uri="{FF2B5EF4-FFF2-40B4-BE49-F238E27FC236}">
                <a16:creationId xmlns:a16="http://schemas.microsoft.com/office/drawing/2014/main" id="{D01A92F5-BFC8-01DC-E223-1B6B9C9E3D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3572" y="1688864"/>
            <a:ext cx="3993932" cy="4375606"/>
          </a:xfrm>
          <a:prstGeom prst="rect">
            <a:avLst/>
          </a:prstGeom>
        </p:spPr>
      </p:pic>
      <p:sp>
        <p:nvSpPr>
          <p:cNvPr id="9" name="Rectangle 1">
            <a:extLst>
              <a:ext uri="{FF2B5EF4-FFF2-40B4-BE49-F238E27FC236}">
                <a16:creationId xmlns:a16="http://schemas.microsoft.com/office/drawing/2014/main" id="{F8C74CA5-E749-E087-14F6-6EA38807F9EB}"/>
              </a:ext>
            </a:extLst>
          </p:cNvPr>
          <p:cNvSpPr>
            <a:spLocks noChangeArrowheads="1"/>
          </p:cNvSpPr>
          <p:nvPr/>
        </p:nvSpPr>
        <p:spPr bwMode="auto">
          <a:xfrm>
            <a:off x="613100" y="1723601"/>
            <a:ext cx="6365770" cy="4480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Volume (Scale):</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Processing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214,794</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fingerprint applications annually.</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Requires a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Centralized Cloud Data Warehouse</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to replace physical storage.</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Velocity (Speed):</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Current latency: Days/Weeks for manual record retrieval.</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Requirement: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Real-time processing</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for "Golden Hour" arrests and checkpoints.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Variety (Complexity):</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Merging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Structured Data</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(CEMS text records) with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Unstructured Data</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(AFIS fingerprints &amp; CCTV).</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Veracity (Trust):</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Combating identity fraud (aliases) among the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2,735</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island reconvicted criminals.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Biometrics provide the "ground truth" where names fail.</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p:txBody>
      </p:sp>
      <p:sp>
        <p:nvSpPr>
          <p:cNvPr id="11" name="TextBox 10">
            <a:extLst>
              <a:ext uri="{FF2B5EF4-FFF2-40B4-BE49-F238E27FC236}">
                <a16:creationId xmlns:a16="http://schemas.microsoft.com/office/drawing/2014/main" id="{2ED11F1F-BA5A-3C7C-600F-DD2E397F6015}"/>
              </a:ext>
            </a:extLst>
          </p:cNvPr>
          <p:cNvSpPr txBox="1"/>
          <p:nvPr/>
        </p:nvSpPr>
        <p:spPr>
          <a:xfrm>
            <a:off x="9140496" y="6646292"/>
            <a:ext cx="3051504" cy="246221"/>
          </a:xfrm>
          <a:prstGeom prst="rect">
            <a:avLst/>
          </a:prstGeom>
          <a:noFill/>
        </p:spPr>
        <p:txBody>
          <a:bodyPr wrap="square">
            <a:spAutoFit/>
          </a:bodyPr>
          <a:lstStyle/>
          <a:p>
            <a:r>
              <a:rPr lang="en-US" sz="1000" i="1" dirty="0"/>
              <a:t>(Sri Lanka Police, 2024; Haidar, 2025; Cavus, 2025)</a:t>
            </a:r>
          </a:p>
        </p:txBody>
      </p:sp>
    </p:spTree>
    <p:extLst>
      <p:ext uri="{BB962C8B-B14F-4D97-AF65-F5344CB8AC3E}">
        <p14:creationId xmlns:p14="http://schemas.microsoft.com/office/powerpoint/2010/main" val="3944546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600B2-F478-2E6B-4C11-913CEE78BC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BB8C80-4334-F4ED-C91C-815B9B0F227E}"/>
              </a:ext>
            </a:extLst>
          </p:cNvPr>
          <p:cNvSpPr txBox="1"/>
          <p:nvPr/>
        </p:nvSpPr>
        <p:spPr>
          <a:xfrm>
            <a:off x="525517" y="598354"/>
            <a:ext cx="6096000" cy="400110"/>
          </a:xfrm>
          <a:prstGeom prst="rect">
            <a:avLst/>
          </a:prstGeom>
          <a:noFill/>
        </p:spPr>
        <p:txBody>
          <a:bodyPr wrap="square">
            <a:spAutoFit/>
          </a:bodyPr>
          <a:lstStyle/>
          <a:p>
            <a:r>
              <a:rPr lang="en-US" sz="2000" dirty="0">
                <a:latin typeface="VCR OSD Mono" panose="02000609000000000000" pitchFamily="49" charset="0"/>
              </a:rPr>
              <a:t>TRANSFORMING DECISION MAKING</a:t>
            </a:r>
          </a:p>
        </p:txBody>
      </p:sp>
      <p:sp>
        <p:nvSpPr>
          <p:cNvPr id="5" name="TextBox 4">
            <a:extLst>
              <a:ext uri="{FF2B5EF4-FFF2-40B4-BE49-F238E27FC236}">
                <a16:creationId xmlns:a16="http://schemas.microsoft.com/office/drawing/2014/main" id="{EA31EF9E-084D-89F9-1CF9-28CA415E1949}"/>
              </a:ext>
            </a:extLst>
          </p:cNvPr>
          <p:cNvSpPr txBox="1"/>
          <p:nvPr/>
        </p:nvSpPr>
        <p:spPr>
          <a:xfrm>
            <a:off x="525517" y="967686"/>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The Analytics Maturity Model</a:t>
            </a:r>
          </a:p>
        </p:txBody>
      </p:sp>
      <p:pic>
        <p:nvPicPr>
          <p:cNvPr id="10" name="Picture 9">
            <a:extLst>
              <a:ext uri="{FF2B5EF4-FFF2-40B4-BE49-F238E27FC236}">
                <a16:creationId xmlns:a16="http://schemas.microsoft.com/office/drawing/2014/main" id="{20FA3C37-569A-9810-E7A5-8B00486845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6601" y="1874852"/>
            <a:ext cx="3479979" cy="3797495"/>
          </a:xfrm>
          <a:prstGeom prst="rect">
            <a:avLst/>
          </a:prstGeom>
        </p:spPr>
      </p:pic>
      <p:sp>
        <p:nvSpPr>
          <p:cNvPr id="6" name="Rectangle 1">
            <a:extLst>
              <a:ext uri="{FF2B5EF4-FFF2-40B4-BE49-F238E27FC236}">
                <a16:creationId xmlns:a16="http://schemas.microsoft.com/office/drawing/2014/main" id="{E2984290-A16E-DA16-A750-31DC930776EF}"/>
              </a:ext>
            </a:extLst>
          </p:cNvPr>
          <p:cNvSpPr>
            <a:spLocks noChangeArrowheads="1"/>
          </p:cNvSpPr>
          <p:nvPr/>
        </p:nvSpPr>
        <p:spPr bwMode="auto">
          <a:xfrm>
            <a:off x="725212" y="1646812"/>
            <a:ext cx="6516415" cy="4457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Descriptive Analytics (Current):</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SLP currently relies on manual reports and "storage-centric" systems (CEMS).</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Reactive: Investigating crimes </a:t>
            </a: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after</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they occur.</a:t>
            </a:r>
          </a:p>
          <a:p>
            <a:pPr marR="0" lvl="0" algn="just" defTabSz="914400" rtl="0" eaLnBrk="0" fontAlgn="base" latinLnBrk="0" hangingPunct="0">
              <a:lnSpc>
                <a:spcPct val="2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Predictive Analytics (The Gap):</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Utilizing historical data to forecast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Recidivism Risk</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for individual suspects.</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Identifying "Micro-trends" before they escalate.</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Prescriptive Analytics ( The Solution):</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Actionable Advice:</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"Deny Bail" or "Deploy Patrol to Sector 4".</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Optimizes limited resources (22,381 officer vacancy).</a:t>
            </a:r>
          </a:p>
          <a:p>
            <a:pPr marL="0" marR="0" lvl="0" indent="0" algn="just" defTabSz="914400" rtl="0" eaLnBrk="0" fontAlgn="base" latinLnBrk="0" hangingPunct="0">
              <a:lnSpc>
                <a:spcPct val="2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p:txBody>
      </p:sp>
      <p:sp>
        <p:nvSpPr>
          <p:cNvPr id="12" name="TextBox 11">
            <a:extLst>
              <a:ext uri="{FF2B5EF4-FFF2-40B4-BE49-F238E27FC236}">
                <a16:creationId xmlns:a16="http://schemas.microsoft.com/office/drawing/2014/main" id="{B26C08CE-8471-30E2-E020-466FE7E000CF}"/>
              </a:ext>
            </a:extLst>
          </p:cNvPr>
          <p:cNvSpPr txBox="1"/>
          <p:nvPr/>
        </p:nvSpPr>
        <p:spPr>
          <a:xfrm>
            <a:off x="8712021" y="6611779"/>
            <a:ext cx="3479979" cy="246221"/>
          </a:xfrm>
          <a:prstGeom prst="rect">
            <a:avLst/>
          </a:prstGeom>
          <a:noFill/>
        </p:spPr>
        <p:txBody>
          <a:bodyPr wrap="square">
            <a:spAutoFit/>
          </a:bodyPr>
          <a:lstStyle/>
          <a:p>
            <a:r>
              <a:rPr lang="en-US" sz="1000" i="1" dirty="0"/>
              <a:t>(Sri Lanka Police, 2024; Haidar, 2025; Sridharan et al., 2024)</a:t>
            </a:r>
          </a:p>
        </p:txBody>
      </p:sp>
      <p:sp>
        <p:nvSpPr>
          <p:cNvPr id="13" name="Oval 12">
            <a:extLst>
              <a:ext uri="{FF2B5EF4-FFF2-40B4-BE49-F238E27FC236}">
                <a16:creationId xmlns:a16="http://schemas.microsoft.com/office/drawing/2014/main" id="{ADA00AF9-3E37-2AC6-57C2-634190F6EB53}"/>
              </a:ext>
            </a:extLst>
          </p:cNvPr>
          <p:cNvSpPr/>
          <p:nvPr/>
        </p:nvSpPr>
        <p:spPr>
          <a:xfrm>
            <a:off x="11256580" y="136635"/>
            <a:ext cx="798786" cy="798786"/>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LO1</a:t>
            </a:r>
          </a:p>
        </p:txBody>
      </p:sp>
    </p:spTree>
    <p:extLst>
      <p:ext uri="{BB962C8B-B14F-4D97-AF65-F5344CB8AC3E}">
        <p14:creationId xmlns:p14="http://schemas.microsoft.com/office/powerpoint/2010/main" val="3026444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34F2B-B228-8285-ADE5-79DB15835B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76C6B26-4B2C-7D32-00BD-668874C1074D}"/>
              </a:ext>
            </a:extLst>
          </p:cNvPr>
          <p:cNvSpPr txBox="1"/>
          <p:nvPr/>
        </p:nvSpPr>
        <p:spPr>
          <a:xfrm>
            <a:off x="525518" y="566823"/>
            <a:ext cx="6096000" cy="400110"/>
          </a:xfrm>
          <a:prstGeom prst="rect">
            <a:avLst/>
          </a:prstGeom>
          <a:noFill/>
        </p:spPr>
        <p:txBody>
          <a:bodyPr wrap="square">
            <a:spAutoFit/>
          </a:bodyPr>
          <a:lstStyle/>
          <a:p>
            <a:r>
              <a:rPr lang="en-US" sz="2000" dirty="0">
                <a:latin typeface="VCR OSD Mono" panose="02000609000000000000" pitchFamily="49" charset="0"/>
              </a:rPr>
              <a:t>PROPOSED SOLUTION ARCHITECTURE</a:t>
            </a:r>
          </a:p>
        </p:txBody>
      </p:sp>
      <p:sp>
        <p:nvSpPr>
          <p:cNvPr id="5" name="TextBox 4">
            <a:extLst>
              <a:ext uri="{FF2B5EF4-FFF2-40B4-BE49-F238E27FC236}">
                <a16:creationId xmlns:a16="http://schemas.microsoft.com/office/drawing/2014/main" id="{CF03CDC9-CA77-68E6-2F66-195768AC56BC}"/>
              </a:ext>
            </a:extLst>
          </p:cNvPr>
          <p:cNvSpPr txBox="1"/>
          <p:nvPr/>
        </p:nvSpPr>
        <p:spPr>
          <a:xfrm>
            <a:off x="525518" y="936155"/>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A Multi-Modal Approach</a:t>
            </a:r>
          </a:p>
        </p:txBody>
      </p:sp>
      <p:pic>
        <p:nvPicPr>
          <p:cNvPr id="7" name="Picture 6">
            <a:extLst>
              <a:ext uri="{FF2B5EF4-FFF2-40B4-BE49-F238E27FC236}">
                <a16:creationId xmlns:a16="http://schemas.microsoft.com/office/drawing/2014/main" id="{F9521233-D9EF-50FC-8E43-21F14B6125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9096" y="1674819"/>
            <a:ext cx="9893808" cy="4318222"/>
          </a:xfrm>
          <a:prstGeom prst="rect">
            <a:avLst/>
          </a:prstGeom>
        </p:spPr>
      </p:pic>
      <p:sp>
        <p:nvSpPr>
          <p:cNvPr id="9" name="TextBox 8">
            <a:extLst>
              <a:ext uri="{FF2B5EF4-FFF2-40B4-BE49-F238E27FC236}">
                <a16:creationId xmlns:a16="http://schemas.microsoft.com/office/drawing/2014/main" id="{F97A17C1-6F9A-ECA0-CF81-2610C17750A9}"/>
              </a:ext>
            </a:extLst>
          </p:cNvPr>
          <p:cNvSpPr txBox="1"/>
          <p:nvPr/>
        </p:nvSpPr>
        <p:spPr>
          <a:xfrm>
            <a:off x="8734097" y="6611779"/>
            <a:ext cx="3457903" cy="246221"/>
          </a:xfrm>
          <a:prstGeom prst="rect">
            <a:avLst/>
          </a:prstGeom>
          <a:noFill/>
        </p:spPr>
        <p:txBody>
          <a:bodyPr wrap="square">
            <a:spAutoFit/>
          </a:bodyPr>
          <a:lstStyle/>
          <a:p>
            <a:r>
              <a:rPr lang="fr-FR" sz="1000" i="1" dirty="0"/>
              <a:t>(Sri Lanka Police, 2024; </a:t>
            </a:r>
            <a:r>
              <a:rPr lang="fr-FR" sz="1000" i="1" dirty="0" err="1"/>
              <a:t>Cavus</a:t>
            </a:r>
            <a:r>
              <a:rPr lang="fr-FR" sz="1000" i="1" dirty="0"/>
              <a:t> et al., 2025; Report Figure 1)</a:t>
            </a:r>
            <a:endParaRPr lang="en-US" sz="1000" i="1" dirty="0"/>
          </a:p>
        </p:txBody>
      </p:sp>
      <p:sp>
        <p:nvSpPr>
          <p:cNvPr id="2" name="Oval 1">
            <a:extLst>
              <a:ext uri="{FF2B5EF4-FFF2-40B4-BE49-F238E27FC236}">
                <a16:creationId xmlns:a16="http://schemas.microsoft.com/office/drawing/2014/main" id="{9493384D-FE4E-8797-0968-D9DDACFB468F}"/>
              </a:ext>
            </a:extLst>
          </p:cNvPr>
          <p:cNvSpPr/>
          <p:nvPr/>
        </p:nvSpPr>
        <p:spPr>
          <a:xfrm>
            <a:off x="11256580" y="136635"/>
            <a:ext cx="798786" cy="798786"/>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LO1</a:t>
            </a:r>
          </a:p>
        </p:txBody>
      </p:sp>
    </p:spTree>
    <p:extLst>
      <p:ext uri="{BB962C8B-B14F-4D97-AF65-F5344CB8AC3E}">
        <p14:creationId xmlns:p14="http://schemas.microsoft.com/office/powerpoint/2010/main" val="2576180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5CA3-2E6D-3861-300C-7E94EA2B964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8AA4687-3FC4-E5CA-B7A7-B0E1E5F72F13}"/>
              </a:ext>
            </a:extLst>
          </p:cNvPr>
          <p:cNvSpPr txBox="1"/>
          <p:nvPr/>
        </p:nvSpPr>
        <p:spPr>
          <a:xfrm>
            <a:off x="504496" y="577333"/>
            <a:ext cx="6096000" cy="400110"/>
          </a:xfrm>
          <a:prstGeom prst="rect">
            <a:avLst/>
          </a:prstGeom>
          <a:noFill/>
        </p:spPr>
        <p:txBody>
          <a:bodyPr wrap="square">
            <a:spAutoFit/>
          </a:bodyPr>
          <a:lstStyle/>
          <a:p>
            <a:r>
              <a:rPr lang="en-US" sz="2000" dirty="0">
                <a:latin typeface="VCR OSD Mono" panose="02000609000000000000" pitchFamily="49" charset="0"/>
              </a:rPr>
              <a:t>ETHICAL &amp; LEGAL CONSTRAINTS</a:t>
            </a:r>
          </a:p>
        </p:txBody>
      </p:sp>
      <p:sp>
        <p:nvSpPr>
          <p:cNvPr id="5" name="TextBox 4">
            <a:extLst>
              <a:ext uri="{FF2B5EF4-FFF2-40B4-BE49-F238E27FC236}">
                <a16:creationId xmlns:a16="http://schemas.microsoft.com/office/drawing/2014/main" id="{95E28A3F-650E-0E38-61D4-E786B3839396}"/>
              </a:ext>
            </a:extLst>
          </p:cNvPr>
          <p:cNvSpPr txBox="1"/>
          <p:nvPr/>
        </p:nvSpPr>
        <p:spPr>
          <a:xfrm>
            <a:off x="504496" y="946665"/>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Balancing Safety with Civil Rights</a:t>
            </a:r>
          </a:p>
        </p:txBody>
      </p:sp>
      <p:sp>
        <p:nvSpPr>
          <p:cNvPr id="6" name="Rectangle 1">
            <a:extLst>
              <a:ext uri="{FF2B5EF4-FFF2-40B4-BE49-F238E27FC236}">
                <a16:creationId xmlns:a16="http://schemas.microsoft.com/office/drawing/2014/main" id="{52186297-1B34-4C2A-B6AA-82A9100919E2}"/>
              </a:ext>
            </a:extLst>
          </p:cNvPr>
          <p:cNvSpPr>
            <a:spLocks noChangeArrowheads="1"/>
          </p:cNvSpPr>
          <p:nvPr/>
        </p:nvSpPr>
        <p:spPr bwMode="auto">
          <a:xfrm>
            <a:off x="746236" y="1985271"/>
            <a:ext cx="6306206" cy="3926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Constraint: Data Privacy &amp; Compliance</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Strict adherence to data protection standards to protect the 214,794 sensitive biometric records.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Implementation of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Role-Based Access Control (RBAC)</a:t>
            </a:r>
          </a:p>
          <a:p>
            <a:pPr marR="0" lvl="0" algn="just" defTabSz="914400" rtl="0" eaLnBrk="0" fontAlgn="base" latinLnBrk="0" hangingPunct="0">
              <a:lnSpc>
                <a:spcPct val="15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Risk: Algorithmic Bias</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Historical over-policing of specific areas can lead to the model unfairly profiling demographics (Self-Fulfilling Prophecy).</a:t>
            </a:r>
          </a:p>
          <a:p>
            <a:pPr marR="0" lvl="0" algn="just" defTabSz="914400" rtl="0" eaLnBrk="0" fontAlgn="base" latinLnBrk="0" hangingPunct="0">
              <a:lnSpc>
                <a:spcPct val="15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Solution: "Human-in-the-Loop"</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Mandatory Policy:</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No suspect is denied bail </a:t>
            </a: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solely</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based on an AI score.</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Decision Support:</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The AI advises; the Officer decides.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Transparency:</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Use of Explainable AI (XAI) to justify risk scores to the judiciary.</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p:txBody>
      </p:sp>
      <p:sp>
        <p:nvSpPr>
          <p:cNvPr id="8" name="TextBox 7">
            <a:extLst>
              <a:ext uri="{FF2B5EF4-FFF2-40B4-BE49-F238E27FC236}">
                <a16:creationId xmlns:a16="http://schemas.microsoft.com/office/drawing/2014/main" id="{766FAE68-5513-D3B6-BA4B-42B23D057FB5}"/>
              </a:ext>
            </a:extLst>
          </p:cNvPr>
          <p:cNvSpPr txBox="1"/>
          <p:nvPr/>
        </p:nvSpPr>
        <p:spPr>
          <a:xfrm>
            <a:off x="8471337" y="6614326"/>
            <a:ext cx="3720663" cy="246221"/>
          </a:xfrm>
          <a:prstGeom prst="rect">
            <a:avLst/>
          </a:prstGeom>
          <a:noFill/>
        </p:spPr>
        <p:txBody>
          <a:bodyPr wrap="square">
            <a:spAutoFit/>
          </a:bodyPr>
          <a:lstStyle/>
          <a:p>
            <a:r>
              <a:rPr lang="fr-FR" sz="1000" i="1" dirty="0"/>
              <a:t>(Sri Lanka Police, 2024; </a:t>
            </a:r>
            <a:r>
              <a:rPr lang="fr-FR" sz="1000" i="1" dirty="0" err="1"/>
              <a:t>Cavus</a:t>
            </a:r>
            <a:r>
              <a:rPr lang="fr-FR" sz="1000" i="1" dirty="0"/>
              <a:t> et al., 2025; Bhardwaj et al., 2026)</a:t>
            </a:r>
            <a:endParaRPr lang="en-US" sz="1000" i="1" dirty="0"/>
          </a:p>
        </p:txBody>
      </p:sp>
      <p:pic>
        <p:nvPicPr>
          <p:cNvPr id="4" name="Picture 3">
            <a:extLst>
              <a:ext uri="{FF2B5EF4-FFF2-40B4-BE49-F238E27FC236}">
                <a16:creationId xmlns:a16="http://schemas.microsoft.com/office/drawing/2014/main" id="{F086FE36-9FBC-5E42-6895-1E7070F77D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0608" y="2900857"/>
            <a:ext cx="3340272" cy="2095608"/>
          </a:xfrm>
          <a:prstGeom prst="rect">
            <a:avLst/>
          </a:prstGeom>
        </p:spPr>
      </p:pic>
      <p:sp>
        <p:nvSpPr>
          <p:cNvPr id="2" name="Oval 1">
            <a:extLst>
              <a:ext uri="{FF2B5EF4-FFF2-40B4-BE49-F238E27FC236}">
                <a16:creationId xmlns:a16="http://schemas.microsoft.com/office/drawing/2014/main" id="{6AFE23E6-743C-1B44-06CF-0282A4182736}"/>
              </a:ext>
            </a:extLst>
          </p:cNvPr>
          <p:cNvSpPr/>
          <p:nvPr/>
        </p:nvSpPr>
        <p:spPr>
          <a:xfrm>
            <a:off x="11256580" y="136635"/>
            <a:ext cx="798786" cy="798786"/>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LO1</a:t>
            </a:r>
          </a:p>
        </p:txBody>
      </p:sp>
    </p:spTree>
    <p:extLst>
      <p:ext uri="{BB962C8B-B14F-4D97-AF65-F5344CB8AC3E}">
        <p14:creationId xmlns:p14="http://schemas.microsoft.com/office/powerpoint/2010/main" val="3258008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54984-81A3-9454-C50F-53D69F65AA4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9EB9F3-468C-AB74-78DF-998C68A56169}"/>
              </a:ext>
            </a:extLst>
          </p:cNvPr>
          <p:cNvSpPr txBox="1"/>
          <p:nvPr/>
        </p:nvSpPr>
        <p:spPr>
          <a:xfrm>
            <a:off x="504497" y="577333"/>
            <a:ext cx="6096000" cy="400110"/>
          </a:xfrm>
          <a:prstGeom prst="rect">
            <a:avLst/>
          </a:prstGeom>
          <a:noFill/>
        </p:spPr>
        <p:txBody>
          <a:bodyPr wrap="square">
            <a:spAutoFit/>
          </a:bodyPr>
          <a:lstStyle/>
          <a:p>
            <a:r>
              <a:rPr lang="en-US" sz="2000" dirty="0">
                <a:latin typeface="VCR OSD Mono" panose="02000609000000000000" pitchFamily="49" charset="0"/>
              </a:rPr>
              <a:t>DATA ACQUISITION STRATEGY</a:t>
            </a:r>
          </a:p>
        </p:txBody>
      </p:sp>
      <p:sp>
        <p:nvSpPr>
          <p:cNvPr id="5" name="TextBox 4">
            <a:extLst>
              <a:ext uri="{FF2B5EF4-FFF2-40B4-BE49-F238E27FC236}">
                <a16:creationId xmlns:a16="http://schemas.microsoft.com/office/drawing/2014/main" id="{EE4C8AEC-A9DE-1632-6112-F447921AB41B}"/>
              </a:ext>
            </a:extLst>
          </p:cNvPr>
          <p:cNvSpPr txBox="1"/>
          <p:nvPr/>
        </p:nvSpPr>
        <p:spPr>
          <a:xfrm>
            <a:off x="504497" y="946665"/>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Simulating Reality</a:t>
            </a:r>
          </a:p>
        </p:txBody>
      </p:sp>
      <p:sp>
        <p:nvSpPr>
          <p:cNvPr id="6" name="Rectangle 1">
            <a:extLst>
              <a:ext uri="{FF2B5EF4-FFF2-40B4-BE49-F238E27FC236}">
                <a16:creationId xmlns:a16="http://schemas.microsoft.com/office/drawing/2014/main" id="{F5BA9419-A620-5AE5-1E09-A1F4B75BF0F6}"/>
              </a:ext>
            </a:extLst>
          </p:cNvPr>
          <p:cNvSpPr>
            <a:spLocks noChangeArrowheads="1"/>
          </p:cNvSpPr>
          <p:nvPr/>
        </p:nvSpPr>
        <p:spPr bwMode="auto">
          <a:xfrm>
            <a:off x="700845" y="1654850"/>
            <a:ext cx="6288534" cy="4203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The Challenge:</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Real criminal records are classified and highly sensitive.</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Direct access to the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214,794</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real fingerprint records is restricted.</a:t>
            </a:r>
          </a:p>
          <a:p>
            <a:pPr marR="0" lvl="0" algn="just" defTabSz="914400" rtl="0" eaLnBrk="0" fontAlgn="base" latinLnBrk="0" hangingPunct="0">
              <a:lnSpc>
                <a:spcPct val="15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The Solution:</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Generated a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High-Fidelity Synthetic Dataset</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(n=1,000) using Python in Google </a:t>
            </a:r>
            <a:r>
              <a:rPr kumimoji="0" lang="en-US" altLang="en-US" sz="1200" b="0" i="0" u="none" strike="noStrike" cap="none" normalizeH="0" baseline="0" dirty="0" err="1">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Colab</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t>
            </a:r>
          </a:p>
          <a:p>
            <a:pPr marR="0" lvl="0" algn="just" defTabSz="914400" rtl="0" eaLnBrk="0" fontAlgn="base" latinLnBrk="0" hangingPunct="0">
              <a:lnSpc>
                <a:spcPct val="15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Simulated Data Streams:</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CEMS (Demographics): Age, Crime Type, Employment Status, Past Convictions.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AFIS &amp; CCTV (Biometrics): Simulated "Biometric Hashes" and "Gait Risk Scores" (0.0–1.0) to mimic AI confidence levels.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National Registry (Network): Explicit "Linked Associate IDs" to model criminal gangs and family networks.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p:txBody>
      </p:sp>
      <p:sp>
        <p:nvSpPr>
          <p:cNvPr id="8" name="TextBox 7">
            <a:extLst>
              <a:ext uri="{FF2B5EF4-FFF2-40B4-BE49-F238E27FC236}">
                <a16:creationId xmlns:a16="http://schemas.microsoft.com/office/drawing/2014/main" id="{DC16BD5A-1A28-F124-CB01-1832F3C7C849}"/>
              </a:ext>
            </a:extLst>
          </p:cNvPr>
          <p:cNvSpPr txBox="1"/>
          <p:nvPr/>
        </p:nvSpPr>
        <p:spPr>
          <a:xfrm>
            <a:off x="9648497" y="6611779"/>
            <a:ext cx="2543503" cy="246221"/>
          </a:xfrm>
          <a:prstGeom prst="rect">
            <a:avLst/>
          </a:prstGeom>
          <a:noFill/>
        </p:spPr>
        <p:txBody>
          <a:bodyPr wrap="square">
            <a:spAutoFit/>
          </a:bodyPr>
          <a:lstStyle/>
          <a:p>
            <a:r>
              <a:rPr lang="fr-FR" sz="1000" i="1" dirty="0"/>
              <a:t>(Sri Lanka Police, 2024; Report Section 4.1)</a:t>
            </a:r>
            <a:endParaRPr lang="en-US" sz="1000" i="1" dirty="0"/>
          </a:p>
        </p:txBody>
      </p:sp>
      <p:sp>
        <p:nvSpPr>
          <p:cNvPr id="9" name="Oval 8">
            <a:extLst>
              <a:ext uri="{FF2B5EF4-FFF2-40B4-BE49-F238E27FC236}">
                <a16:creationId xmlns:a16="http://schemas.microsoft.com/office/drawing/2014/main" id="{A7190CD4-4F55-53A0-A7D0-4EC5A1E9B547}"/>
              </a:ext>
            </a:extLst>
          </p:cNvPr>
          <p:cNvSpPr/>
          <p:nvPr/>
        </p:nvSpPr>
        <p:spPr>
          <a:xfrm>
            <a:off x="11235559" y="136634"/>
            <a:ext cx="819807" cy="819807"/>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LO2</a:t>
            </a:r>
          </a:p>
        </p:txBody>
      </p:sp>
      <p:pic>
        <p:nvPicPr>
          <p:cNvPr id="4" name="Picture 3">
            <a:extLst>
              <a:ext uri="{FF2B5EF4-FFF2-40B4-BE49-F238E27FC236}">
                <a16:creationId xmlns:a16="http://schemas.microsoft.com/office/drawing/2014/main" id="{75B70740-5D36-EAC5-8BBF-2D09066AFF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6652" y="1372431"/>
            <a:ext cx="3874503" cy="4768618"/>
          </a:xfrm>
          <a:prstGeom prst="rect">
            <a:avLst/>
          </a:prstGeom>
        </p:spPr>
      </p:pic>
    </p:spTree>
    <p:extLst>
      <p:ext uri="{BB962C8B-B14F-4D97-AF65-F5344CB8AC3E}">
        <p14:creationId xmlns:p14="http://schemas.microsoft.com/office/powerpoint/2010/main" val="1370916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7173F-D393-A752-696C-F439B6B309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DDD5D1-8E1E-47DA-52F0-F83B08A5987F}"/>
              </a:ext>
            </a:extLst>
          </p:cNvPr>
          <p:cNvSpPr txBox="1"/>
          <p:nvPr/>
        </p:nvSpPr>
        <p:spPr>
          <a:xfrm>
            <a:off x="504496" y="577333"/>
            <a:ext cx="6096000" cy="400110"/>
          </a:xfrm>
          <a:prstGeom prst="rect">
            <a:avLst/>
          </a:prstGeom>
          <a:noFill/>
        </p:spPr>
        <p:txBody>
          <a:bodyPr wrap="square">
            <a:spAutoFit/>
          </a:bodyPr>
          <a:lstStyle/>
          <a:p>
            <a:r>
              <a:rPr lang="en-US" sz="2000" dirty="0">
                <a:latin typeface="VCR OSD Mono" panose="02000609000000000000" pitchFamily="49" charset="0"/>
              </a:rPr>
              <a:t>DATA PRE-PROCESSING</a:t>
            </a:r>
          </a:p>
        </p:txBody>
      </p:sp>
      <p:sp>
        <p:nvSpPr>
          <p:cNvPr id="5" name="TextBox 4">
            <a:extLst>
              <a:ext uri="{FF2B5EF4-FFF2-40B4-BE49-F238E27FC236}">
                <a16:creationId xmlns:a16="http://schemas.microsoft.com/office/drawing/2014/main" id="{7FC8A8EC-D097-B9E6-629B-0B2A3E70CCAB}"/>
              </a:ext>
            </a:extLst>
          </p:cNvPr>
          <p:cNvSpPr txBox="1"/>
          <p:nvPr/>
        </p:nvSpPr>
        <p:spPr>
          <a:xfrm>
            <a:off x="504496" y="946665"/>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Creating the "Master Analytical Table</a:t>
            </a:r>
          </a:p>
        </p:txBody>
      </p:sp>
      <p:sp>
        <p:nvSpPr>
          <p:cNvPr id="6" name="Rectangle 1">
            <a:extLst>
              <a:ext uri="{FF2B5EF4-FFF2-40B4-BE49-F238E27FC236}">
                <a16:creationId xmlns:a16="http://schemas.microsoft.com/office/drawing/2014/main" id="{9FB5AC69-32E8-B8D4-F8E4-9DD0DFD04122}"/>
              </a:ext>
            </a:extLst>
          </p:cNvPr>
          <p:cNvSpPr>
            <a:spLocks noChangeArrowheads="1"/>
          </p:cNvSpPr>
          <p:nvPr/>
        </p:nvSpPr>
        <p:spPr bwMode="auto">
          <a:xfrm>
            <a:off x="1534510" y="2071000"/>
            <a:ext cx="9122980" cy="3372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Data Integration (The Merge):</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Consolidated 3 isolated streams (CEMS, Biometrics, Registry) into a single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Master Analytical Table</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(n=1,000).</a:t>
            </a: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Feature Engineering (Creating Intelligence):</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Network Analysis:</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Converted raw text lists (e.g., SLP-105; SLP-109) into a numerical </a:t>
            </a:r>
            <a:r>
              <a:rPr kumimoji="0" lang="en-US" altLang="en-US" sz="1200" b="1" i="0" u="none" strike="noStrike" cap="none" normalizeH="0" baseline="0" dirty="0" err="1">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Network_Size</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score.</a:t>
            </a:r>
          </a:p>
          <a:p>
            <a:pPr marR="0" lvl="0" algn="just" defTabSz="914400" rtl="0" eaLnBrk="0" fontAlgn="base" latinLnBrk="0" hangingPunct="0">
              <a:lnSpc>
                <a:spcPct val="15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Data Cleaning:</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Handled missing values in "Employment Status" to ensure dataset integrity.</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Feature Selection:</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Retained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Age</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Prior Convictions</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and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Family History</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as they are statistically the strongest predictors of recidivism.</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p:txBody>
      </p:sp>
      <p:sp>
        <p:nvSpPr>
          <p:cNvPr id="8" name="TextBox 7">
            <a:extLst>
              <a:ext uri="{FF2B5EF4-FFF2-40B4-BE49-F238E27FC236}">
                <a16:creationId xmlns:a16="http://schemas.microsoft.com/office/drawing/2014/main" id="{56ADC51E-DCA0-6535-F2CA-A97935856FCC}"/>
              </a:ext>
            </a:extLst>
          </p:cNvPr>
          <p:cNvSpPr txBox="1"/>
          <p:nvPr/>
        </p:nvSpPr>
        <p:spPr>
          <a:xfrm>
            <a:off x="7987861" y="6611779"/>
            <a:ext cx="4204139" cy="246221"/>
          </a:xfrm>
          <a:prstGeom prst="rect">
            <a:avLst/>
          </a:prstGeom>
          <a:noFill/>
        </p:spPr>
        <p:txBody>
          <a:bodyPr wrap="square">
            <a:spAutoFit/>
          </a:bodyPr>
          <a:lstStyle/>
          <a:p>
            <a:r>
              <a:rPr lang="en-US" sz="1000" i="1" dirty="0"/>
              <a:t>(Sri Lanka Police, 2024; Report Section 4.2; Generated Synthetic Dataset)</a:t>
            </a:r>
          </a:p>
        </p:txBody>
      </p:sp>
      <p:sp>
        <p:nvSpPr>
          <p:cNvPr id="2" name="Oval 1">
            <a:extLst>
              <a:ext uri="{FF2B5EF4-FFF2-40B4-BE49-F238E27FC236}">
                <a16:creationId xmlns:a16="http://schemas.microsoft.com/office/drawing/2014/main" id="{FF78C86E-3582-CBC1-37E8-03E794EAB8B0}"/>
              </a:ext>
            </a:extLst>
          </p:cNvPr>
          <p:cNvSpPr/>
          <p:nvPr/>
        </p:nvSpPr>
        <p:spPr>
          <a:xfrm>
            <a:off x="11235559" y="136634"/>
            <a:ext cx="819807" cy="819807"/>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LO2</a:t>
            </a:r>
          </a:p>
        </p:txBody>
      </p:sp>
    </p:spTree>
    <p:extLst>
      <p:ext uri="{BB962C8B-B14F-4D97-AF65-F5344CB8AC3E}">
        <p14:creationId xmlns:p14="http://schemas.microsoft.com/office/powerpoint/2010/main" val="892728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E1F29-BE96-73D0-BB63-00F2E3F20E1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57AA03F-E5E6-8FF7-E813-F5CC02BAA3ED}"/>
              </a:ext>
            </a:extLst>
          </p:cNvPr>
          <p:cNvPicPr>
            <a:picLocks noChangeAspect="1"/>
          </p:cNvPicPr>
          <p:nvPr/>
        </p:nvPicPr>
        <p:blipFill>
          <a:blip r:embed="rId2"/>
          <a:stretch>
            <a:fillRect/>
          </a:stretch>
        </p:blipFill>
        <p:spPr>
          <a:xfrm>
            <a:off x="-256551" y="4795456"/>
            <a:ext cx="12705101" cy="2225453"/>
          </a:xfrm>
          <a:prstGeom prst="rect">
            <a:avLst/>
          </a:prstGeom>
          <a:ln>
            <a:solidFill>
              <a:schemeClr val="tx1"/>
            </a:solidFill>
          </a:ln>
        </p:spPr>
      </p:pic>
      <p:pic>
        <p:nvPicPr>
          <p:cNvPr id="4" name="Picture 3">
            <a:extLst>
              <a:ext uri="{FF2B5EF4-FFF2-40B4-BE49-F238E27FC236}">
                <a16:creationId xmlns:a16="http://schemas.microsoft.com/office/drawing/2014/main" id="{964B821A-DF02-0BAE-1071-14B9BC46EBFC}"/>
              </a:ext>
            </a:extLst>
          </p:cNvPr>
          <p:cNvPicPr>
            <a:picLocks noChangeAspect="1"/>
          </p:cNvPicPr>
          <p:nvPr/>
        </p:nvPicPr>
        <p:blipFill>
          <a:blip r:embed="rId3"/>
          <a:stretch>
            <a:fillRect/>
          </a:stretch>
        </p:blipFill>
        <p:spPr>
          <a:xfrm>
            <a:off x="609600" y="680512"/>
            <a:ext cx="10541876" cy="1637731"/>
          </a:xfrm>
          <a:prstGeom prst="rect">
            <a:avLst/>
          </a:prstGeom>
          <a:ln>
            <a:solidFill>
              <a:schemeClr val="tx1"/>
            </a:solidFill>
          </a:ln>
        </p:spPr>
      </p:pic>
      <p:pic>
        <p:nvPicPr>
          <p:cNvPr id="5" name="Picture 4">
            <a:extLst>
              <a:ext uri="{FF2B5EF4-FFF2-40B4-BE49-F238E27FC236}">
                <a16:creationId xmlns:a16="http://schemas.microsoft.com/office/drawing/2014/main" id="{14AF6613-F140-CFC9-6747-3D6068037223}"/>
              </a:ext>
            </a:extLst>
          </p:cNvPr>
          <p:cNvPicPr>
            <a:picLocks noChangeAspect="1"/>
          </p:cNvPicPr>
          <p:nvPr/>
        </p:nvPicPr>
        <p:blipFill>
          <a:blip r:embed="rId4"/>
          <a:stretch>
            <a:fillRect/>
          </a:stretch>
        </p:blipFill>
        <p:spPr>
          <a:xfrm>
            <a:off x="609600" y="2780013"/>
            <a:ext cx="2705478" cy="1810003"/>
          </a:xfrm>
          <a:prstGeom prst="rect">
            <a:avLst/>
          </a:prstGeom>
          <a:ln>
            <a:solidFill>
              <a:schemeClr val="tx1"/>
            </a:solidFill>
          </a:ln>
        </p:spPr>
      </p:pic>
      <p:pic>
        <p:nvPicPr>
          <p:cNvPr id="6" name="Picture 5">
            <a:extLst>
              <a:ext uri="{FF2B5EF4-FFF2-40B4-BE49-F238E27FC236}">
                <a16:creationId xmlns:a16="http://schemas.microsoft.com/office/drawing/2014/main" id="{C3FC22A0-3EED-2AF9-32E3-DA2FAD4F8CB3}"/>
              </a:ext>
            </a:extLst>
          </p:cNvPr>
          <p:cNvPicPr>
            <a:picLocks noChangeAspect="1"/>
          </p:cNvPicPr>
          <p:nvPr/>
        </p:nvPicPr>
        <p:blipFill>
          <a:blip r:embed="rId5"/>
          <a:stretch>
            <a:fillRect/>
          </a:stretch>
        </p:blipFill>
        <p:spPr>
          <a:xfrm>
            <a:off x="8105290" y="2789540"/>
            <a:ext cx="3477110" cy="1800476"/>
          </a:xfrm>
          <a:prstGeom prst="rect">
            <a:avLst/>
          </a:prstGeom>
          <a:ln>
            <a:solidFill>
              <a:schemeClr val="tx1"/>
            </a:solidFill>
          </a:ln>
        </p:spPr>
      </p:pic>
      <p:cxnSp>
        <p:nvCxnSpPr>
          <p:cNvPr id="14" name="Straight Arrow Connector 13">
            <a:extLst>
              <a:ext uri="{FF2B5EF4-FFF2-40B4-BE49-F238E27FC236}">
                <a16:creationId xmlns:a16="http://schemas.microsoft.com/office/drawing/2014/main" id="{A54AAB48-90BB-7E3E-511B-2F236926A4D3}"/>
              </a:ext>
            </a:extLst>
          </p:cNvPr>
          <p:cNvCxnSpPr>
            <a:cxnSpLocks/>
            <a:stCxn id="4" idx="2"/>
            <a:endCxn id="16" idx="0"/>
          </p:cNvCxnSpPr>
          <p:nvPr/>
        </p:nvCxnSpPr>
        <p:spPr>
          <a:xfrm>
            <a:off x="5880538" y="2318243"/>
            <a:ext cx="215463" cy="12342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57C8E7E1-07CC-3737-B397-355DBF3C1F0D}"/>
              </a:ext>
            </a:extLst>
          </p:cNvPr>
          <p:cNvSpPr/>
          <p:nvPr/>
        </p:nvSpPr>
        <p:spPr>
          <a:xfrm>
            <a:off x="5948856" y="3552497"/>
            <a:ext cx="294289" cy="294289"/>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731EF9AD-7B2D-ACBC-9DC6-FE3CD6FB1B8C}"/>
              </a:ext>
            </a:extLst>
          </p:cNvPr>
          <p:cNvCxnSpPr>
            <a:cxnSpLocks/>
            <a:stCxn id="5" idx="3"/>
            <a:endCxn id="16" idx="2"/>
          </p:cNvCxnSpPr>
          <p:nvPr/>
        </p:nvCxnSpPr>
        <p:spPr>
          <a:xfrm>
            <a:off x="3315078" y="3685015"/>
            <a:ext cx="2633778" cy="1462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14575E5A-DF86-A246-FA54-C00EB6A3446B}"/>
              </a:ext>
            </a:extLst>
          </p:cNvPr>
          <p:cNvCxnSpPr>
            <a:cxnSpLocks/>
            <a:stCxn id="6" idx="1"/>
            <a:endCxn id="16" idx="6"/>
          </p:cNvCxnSpPr>
          <p:nvPr/>
        </p:nvCxnSpPr>
        <p:spPr>
          <a:xfrm flipH="1">
            <a:off x="6243145" y="3689778"/>
            <a:ext cx="1862145" cy="986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1DC6AA24-8C91-9229-C5C1-FE6676776F2B}"/>
              </a:ext>
            </a:extLst>
          </p:cNvPr>
          <p:cNvCxnSpPr>
            <a:cxnSpLocks/>
            <a:stCxn id="16" idx="4"/>
            <a:endCxn id="3" idx="0"/>
          </p:cNvCxnSpPr>
          <p:nvPr/>
        </p:nvCxnSpPr>
        <p:spPr>
          <a:xfrm flipH="1">
            <a:off x="6096000" y="3846786"/>
            <a:ext cx="1" cy="94867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CD35E60F-A2E4-56A3-3ABB-3D5442290994}"/>
              </a:ext>
            </a:extLst>
          </p:cNvPr>
          <p:cNvSpPr txBox="1"/>
          <p:nvPr/>
        </p:nvSpPr>
        <p:spPr>
          <a:xfrm>
            <a:off x="3598857" y="4489695"/>
            <a:ext cx="6358758" cy="276999"/>
          </a:xfrm>
          <a:prstGeom prst="rect">
            <a:avLst/>
          </a:prstGeom>
          <a:noFill/>
        </p:spPr>
        <p:txBody>
          <a:bodyPr wrap="square">
            <a:spAutoFit/>
          </a:bodyPr>
          <a:lstStyle/>
          <a:p>
            <a:r>
              <a:rPr lang="en-US" sz="1200" dirty="0">
                <a:latin typeface="JetBrainsMono NF" panose="02000009000000000000" pitchFamily="50" charset="0"/>
                <a:ea typeface="JetBrainsMono NF" panose="02000009000000000000" pitchFamily="50" charset="0"/>
                <a:cs typeface="JetBrainsMono NF" panose="02000009000000000000" pitchFamily="50" charset="0"/>
              </a:rPr>
              <a:t>HUMAN_READABLE_MASTER.CSV</a:t>
            </a:r>
          </a:p>
        </p:txBody>
      </p:sp>
      <p:sp>
        <p:nvSpPr>
          <p:cNvPr id="32" name="TextBox 31">
            <a:extLst>
              <a:ext uri="{FF2B5EF4-FFF2-40B4-BE49-F238E27FC236}">
                <a16:creationId xmlns:a16="http://schemas.microsoft.com/office/drawing/2014/main" id="{05B60B89-F476-89CC-BE04-98983E5DB67D}"/>
              </a:ext>
            </a:extLst>
          </p:cNvPr>
          <p:cNvSpPr txBox="1"/>
          <p:nvPr/>
        </p:nvSpPr>
        <p:spPr>
          <a:xfrm>
            <a:off x="8003628" y="2503014"/>
            <a:ext cx="6358758" cy="276999"/>
          </a:xfrm>
          <a:prstGeom prst="rect">
            <a:avLst/>
          </a:prstGeom>
          <a:noFill/>
        </p:spPr>
        <p:txBody>
          <a:bodyPr wrap="square">
            <a:spAutoFit/>
          </a:bodyPr>
          <a:lstStyle/>
          <a:p>
            <a:r>
              <a:rPr lang="en-US" sz="1200" dirty="0">
                <a:latin typeface="JetBrainsMono NF" panose="02000009000000000000" pitchFamily="50" charset="0"/>
                <a:ea typeface="JetBrainsMono NF" panose="02000009000000000000" pitchFamily="50" charset="0"/>
                <a:cs typeface="JetBrainsMono NF" panose="02000009000000000000" pitchFamily="50" charset="0"/>
              </a:rPr>
              <a:t>FAMILY_NETWORK.CSV</a:t>
            </a:r>
          </a:p>
        </p:txBody>
      </p:sp>
      <p:sp>
        <p:nvSpPr>
          <p:cNvPr id="34" name="TextBox 33">
            <a:extLst>
              <a:ext uri="{FF2B5EF4-FFF2-40B4-BE49-F238E27FC236}">
                <a16:creationId xmlns:a16="http://schemas.microsoft.com/office/drawing/2014/main" id="{808B18EE-3AA9-4928-C86D-C9706BD2CC2F}"/>
              </a:ext>
            </a:extLst>
          </p:cNvPr>
          <p:cNvSpPr txBox="1"/>
          <p:nvPr/>
        </p:nvSpPr>
        <p:spPr>
          <a:xfrm>
            <a:off x="533401" y="2503013"/>
            <a:ext cx="7309944" cy="276999"/>
          </a:xfrm>
          <a:prstGeom prst="rect">
            <a:avLst/>
          </a:prstGeom>
          <a:noFill/>
        </p:spPr>
        <p:txBody>
          <a:bodyPr wrap="square">
            <a:spAutoFit/>
          </a:bodyPr>
          <a:lstStyle/>
          <a:p>
            <a:r>
              <a:rPr lang="en-US" sz="1200" dirty="0">
                <a:latin typeface="JetBrainsMono NF" panose="02000009000000000000" pitchFamily="50" charset="0"/>
                <a:ea typeface="JetBrainsMono NF" panose="02000009000000000000" pitchFamily="50" charset="0"/>
                <a:cs typeface="JetBrainsMono NF" panose="02000009000000000000" pitchFamily="50" charset="0"/>
              </a:rPr>
              <a:t>BIOMETRIC_DATA.CSV</a:t>
            </a:r>
          </a:p>
        </p:txBody>
      </p:sp>
      <p:sp>
        <p:nvSpPr>
          <p:cNvPr id="36" name="TextBox 35">
            <a:extLst>
              <a:ext uri="{FF2B5EF4-FFF2-40B4-BE49-F238E27FC236}">
                <a16:creationId xmlns:a16="http://schemas.microsoft.com/office/drawing/2014/main" id="{9EE6D475-8FC9-85BD-9435-12EF07973719}"/>
              </a:ext>
            </a:extLst>
          </p:cNvPr>
          <p:cNvSpPr txBox="1"/>
          <p:nvPr/>
        </p:nvSpPr>
        <p:spPr>
          <a:xfrm>
            <a:off x="533401" y="403512"/>
            <a:ext cx="7309944" cy="276999"/>
          </a:xfrm>
          <a:prstGeom prst="rect">
            <a:avLst/>
          </a:prstGeom>
          <a:noFill/>
        </p:spPr>
        <p:txBody>
          <a:bodyPr wrap="square">
            <a:spAutoFit/>
          </a:bodyPr>
          <a:lstStyle/>
          <a:p>
            <a:r>
              <a:rPr lang="en-US" sz="1200" dirty="0">
                <a:latin typeface="JetBrainsMono NF" panose="02000009000000000000" pitchFamily="50" charset="0"/>
                <a:ea typeface="JetBrainsMono NF" panose="02000009000000000000" pitchFamily="50" charset="0"/>
                <a:cs typeface="JetBrainsMono NF" panose="02000009000000000000" pitchFamily="50" charset="0"/>
              </a:rPr>
              <a:t>CEMS_Demographics.csv</a:t>
            </a:r>
          </a:p>
        </p:txBody>
      </p:sp>
      <p:sp>
        <p:nvSpPr>
          <p:cNvPr id="2" name="Oval 1">
            <a:extLst>
              <a:ext uri="{FF2B5EF4-FFF2-40B4-BE49-F238E27FC236}">
                <a16:creationId xmlns:a16="http://schemas.microsoft.com/office/drawing/2014/main" id="{FA2F76C8-C722-B238-72DD-65A989776419}"/>
              </a:ext>
            </a:extLst>
          </p:cNvPr>
          <p:cNvSpPr/>
          <p:nvPr/>
        </p:nvSpPr>
        <p:spPr>
          <a:xfrm>
            <a:off x="11235559" y="136634"/>
            <a:ext cx="819807" cy="819807"/>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LO2</a:t>
            </a:r>
          </a:p>
        </p:txBody>
      </p:sp>
    </p:spTree>
    <p:extLst>
      <p:ext uri="{BB962C8B-B14F-4D97-AF65-F5344CB8AC3E}">
        <p14:creationId xmlns:p14="http://schemas.microsoft.com/office/powerpoint/2010/main" val="1470927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24D40-7A1E-7A84-8389-409BC2C0CC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179E9CA-BFD8-FD6A-31C8-1F90996CF580}"/>
              </a:ext>
            </a:extLst>
          </p:cNvPr>
          <p:cNvSpPr txBox="1"/>
          <p:nvPr/>
        </p:nvSpPr>
        <p:spPr>
          <a:xfrm>
            <a:off x="504497" y="587843"/>
            <a:ext cx="6096000" cy="400110"/>
          </a:xfrm>
          <a:prstGeom prst="rect">
            <a:avLst/>
          </a:prstGeom>
          <a:noFill/>
        </p:spPr>
        <p:txBody>
          <a:bodyPr wrap="square">
            <a:spAutoFit/>
          </a:bodyPr>
          <a:lstStyle/>
          <a:p>
            <a:r>
              <a:rPr lang="en-US" sz="2000" dirty="0">
                <a:latin typeface="VCR OSD Mono" panose="02000609000000000000" pitchFamily="49" charset="0"/>
              </a:rPr>
              <a:t>DATA TRANSFORMATION</a:t>
            </a:r>
          </a:p>
        </p:txBody>
      </p:sp>
      <p:sp>
        <p:nvSpPr>
          <p:cNvPr id="5" name="TextBox 4">
            <a:extLst>
              <a:ext uri="{FF2B5EF4-FFF2-40B4-BE49-F238E27FC236}">
                <a16:creationId xmlns:a16="http://schemas.microsoft.com/office/drawing/2014/main" id="{2961B21B-8E32-02A0-7D67-C4386F125287}"/>
              </a:ext>
            </a:extLst>
          </p:cNvPr>
          <p:cNvSpPr txBox="1"/>
          <p:nvPr/>
        </p:nvSpPr>
        <p:spPr>
          <a:xfrm>
            <a:off x="504497" y="957175"/>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Boolean Encoding &amp; Feature Selection</a:t>
            </a:r>
          </a:p>
        </p:txBody>
      </p:sp>
      <p:sp>
        <p:nvSpPr>
          <p:cNvPr id="6" name="Rectangle 1">
            <a:extLst>
              <a:ext uri="{FF2B5EF4-FFF2-40B4-BE49-F238E27FC236}">
                <a16:creationId xmlns:a16="http://schemas.microsoft.com/office/drawing/2014/main" id="{1495BB54-534F-13EF-E535-B4460AFE1E43}"/>
              </a:ext>
            </a:extLst>
          </p:cNvPr>
          <p:cNvSpPr>
            <a:spLocks noChangeArrowheads="1"/>
          </p:cNvSpPr>
          <p:nvPr/>
        </p:nvSpPr>
        <p:spPr bwMode="auto">
          <a:xfrm>
            <a:off x="1529255" y="1572728"/>
            <a:ext cx="9133490" cy="4497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The Technical Challenge:</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1200" dirty="0">
                <a:latin typeface="Alliance No.2 Light" panose="00000400000000000000" pitchFamily="50" charset="0"/>
                <a:ea typeface="JetBrainsMono NF" panose="02000009000000000000" pitchFamily="50" charset="0"/>
                <a:cs typeface="JetBrainsMono NF" panose="02000009000000000000" pitchFamily="50" charset="0"/>
              </a:rPr>
              <a:t>A</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lgorithms cannot process raw text strings.</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Boolean One-Hot Encoding:</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Converted categorical variables into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Boolean Vectors</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(True / False).</a:t>
            </a:r>
          </a:p>
          <a:p>
            <a:pPr lvl="1" algn="just" eaLnBrk="0" fontAlgn="base" hangingPunct="0">
              <a:lnSpc>
                <a:spcPct val="150000"/>
              </a:lnSpc>
              <a:spcBef>
                <a:spcPct val="0"/>
              </a:spcBef>
              <a:spcAft>
                <a:spcPct val="0"/>
              </a:spcAft>
            </a:pP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Example: The column </a:t>
            </a:r>
            <a:r>
              <a:rPr kumimoji="0" lang="en-US" altLang="en-US" sz="1200" b="0" u="none" strike="noStrike" cap="none" normalizeH="0" baseline="0" dirty="0" err="1">
                <a:ln>
                  <a:noFill/>
                </a:ln>
                <a:solidFill>
                  <a:schemeClr val="tx1"/>
                </a:solidFill>
                <a:effectLst/>
                <a:latin typeface="JetBrainsMono NF" panose="02000009000000000000" pitchFamily="50" charset="0"/>
                <a:ea typeface="JetBrainsMono NF" panose="02000009000000000000" pitchFamily="50" charset="0"/>
                <a:cs typeface="JetBrainsMono NF" panose="02000009000000000000" pitchFamily="50" charset="0"/>
              </a:rPr>
              <a:t>Last_Crime_Category</a:t>
            </a:r>
            <a:r>
              <a:rPr kumimoji="0" lang="en-US" altLang="en-US" sz="1200" b="0" u="none" strike="noStrike" cap="none" normalizeH="0" baseline="0" dirty="0">
                <a:ln>
                  <a:noFill/>
                </a:ln>
                <a:solidFill>
                  <a:schemeClr val="tx1"/>
                </a:solidFill>
                <a:effectLst/>
                <a:latin typeface="JetBrainsMono NF" panose="02000009000000000000" pitchFamily="50" charset="0"/>
                <a:ea typeface="JetBrainsMono NF" panose="02000009000000000000" pitchFamily="50" charset="0"/>
                <a:cs typeface="JetBrainsMono NF" panose="02000009000000000000" pitchFamily="50" charset="0"/>
              </a:rPr>
              <a:t> </a:t>
            </a: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was exploded into multiple columns. If a suspect committed theft, </a:t>
            </a:r>
            <a:r>
              <a:rPr kumimoji="0" lang="en-US" altLang="en-US" sz="1200" b="0" u="none" strike="noStrike" cap="none" normalizeH="0" baseline="0" dirty="0" err="1">
                <a:ln>
                  <a:noFill/>
                </a:ln>
                <a:solidFill>
                  <a:schemeClr val="tx1"/>
                </a:solidFill>
                <a:effectLst/>
                <a:latin typeface="JetBrainsMono NF" panose="02000009000000000000" pitchFamily="50" charset="0"/>
                <a:ea typeface="JetBrainsMono NF" panose="02000009000000000000" pitchFamily="50" charset="0"/>
                <a:cs typeface="JetBrainsMono NF" panose="02000009000000000000" pitchFamily="50" charset="0"/>
              </a:rPr>
              <a:t>Crime_Type_Theft</a:t>
            </a:r>
            <a:r>
              <a:rPr lang="en-US" altLang="en-US" sz="1200" dirty="0">
                <a:latin typeface="JetBrainsMono NF" panose="02000009000000000000" pitchFamily="50" charset="0"/>
                <a:ea typeface="JetBrainsMono NF" panose="02000009000000000000" pitchFamily="50" charset="0"/>
                <a:cs typeface="JetBrainsMono NF" panose="02000009000000000000" pitchFamily="50" charset="0"/>
              </a:rPr>
              <a:t> </a:t>
            </a: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becomes </a:t>
            </a:r>
            <a:r>
              <a:rPr kumimoji="0" lang="en-US" altLang="en-US" sz="1200" b="1"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True</a:t>
            </a: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while </a:t>
            </a:r>
            <a:r>
              <a:rPr kumimoji="0" lang="en-US" altLang="en-US" sz="1200" b="0" u="none" strike="noStrike" cap="none" normalizeH="0" baseline="0" dirty="0" err="1">
                <a:ln>
                  <a:noFill/>
                </a:ln>
                <a:solidFill>
                  <a:schemeClr val="tx1"/>
                </a:solidFill>
                <a:effectLst/>
                <a:latin typeface="JetBrainsMono NF" panose="02000009000000000000" pitchFamily="50" charset="0"/>
                <a:ea typeface="JetBrainsMono NF" panose="02000009000000000000" pitchFamily="50" charset="0"/>
                <a:cs typeface="JetBrainsMono NF" panose="02000009000000000000" pitchFamily="50" charset="0"/>
              </a:rPr>
              <a:t>Crime_Type_Fraud</a:t>
            </a:r>
            <a:r>
              <a:rPr kumimoji="0" lang="en-US" altLang="en-US" sz="1200" b="0" u="none" strike="noStrike" cap="none" normalizeH="0" baseline="0" dirty="0">
                <a:ln>
                  <a:noFill/>
                </a:ln>
                <a:solidFill>
                  <a:schemeClr val="tx1"/>
                </a:solidFill>
                <a:effectLst/>
                <a:latin typeface="JetBrainsMono NF" panose="02000009000000000000" pitchFamily="50" charset="0"/>
                <a:ea typeface="JetBrainsMono NF" panose="02000009000000000000" pitchFamily="50" charset="0"/>
                <a:cs typeface="JetBrainsMono NF" panose="02000009000000000000" pitchFamily="50" charset="0"/>
              </a:rPr>
              <a:t> </a:t>
            </a: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becomes </a:t>
            </a:r>
            <a:r>
              <a:rPr kumimoji="0" lang="en-US" altLang="en-US" sz="1200" b="1"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False</a:t>
            </a: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Dimensionality Reduction:</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Dropped:</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a:t>
            </a:r>
            <a:r>
              <a:rPr kumimoji="0" lang="en-US" altLang="en-US" sz="1200" b="0" i="0" u="none" strike="noStrike" cap="none" normalizeH="0" baseline="0" dirty="0" err="1">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Full_Name</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Address, </a:t>
            </a:r>
            <a:r>
              <a:rPr kumimoji="0" lang="en-US" altLang="en-US" sz="1200" b="0" i="0" u="none" strike="noStrike" cap="none" normalizeH="0" baseline="0" dirty="0" err="1">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NIC_Number</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t>
            </a:r>
          </a:p>
          <a:p>
            <a:pPr lvl="1" algn="just" eaLnBrk="0" fontAlgn="base" hangingPunct="0">
              <a:lnSpc>
                <a:spcPct val="150000"/>
              </a:lnSpc>
              <a:spcBef>
                <a:spcPct val="0"/>
              </a:spcBef>
              <a:spcAft>
                <a:spcPct val="0"/>
              </a:spcAft>
            </a:pP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Reason: These are </a:t>
            </a:r>
            <a:r>
              <a:rPr kumimoji="0" lang="en-US" altLang="en-US" sz="1200" b="1"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Unique Identifiers</a:t>
            </a: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We removed them to prevent "Overfitting"—ensuring the model learns patterns (e.g., behavior), not identities (e.g., "Kamal is bad").</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Final Input Structure:</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Matrix Dimensions:</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1,000 Rows × 19 Boolean/Numerical Features.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p:txBody>
      </p:sp>
      <p:sp>
        <p:nvSpPr>
          <p:cNvPr id="8" name="TextBox 7">
            <a:extLst>
              <a:ext uri="{FF2B5EF4-FFF2-40B4-BE49-F238E27FC236}">
                <a16:creationId xmlns:a16="http://schemas.microsoft.com/office/drawing/2014/main" id="{D0BB05BD-BDE5-0176-55F0-136BF86E7860}"/>
              </a:ext>
            </a:extLst>
          </p:cNvPr>
          <p:cNvSpPr txBox="1"/>
          <p:nvPr/>
        </p:nvSpPr>
        <p:spPr>
          <a:xfrm>
            <a:off x="8881241" y="6611779"/>
            <a:ext cx="3310759" cy="246221"/>
          </a:xfrm>
          <a:prstGeom prst="rect">
            <a:avLst/>
          </a:prstGeom>
          <a:noFill/>
        </p:spPr>
        <p:txBody>
          <a:bodyPr wrap="square">
            <a:spAutoFit/>
          </a:bodyPr>
          <a:lstStyle/>
          <a:p>
            <a:r>
              <a:rPr lang="en-US" sz="1000" i="1" dirty="0"/>
              <a:t>(Sri Lanka Police, 2024; Report Section 4.3; Methodology)</a:t>
            </a:r>
          </a:p>
        </p:txBody>
      </p:sp>
      <p:sp>
        <p:nvSpPr>
          <p:cNvPr id="2" name="Oval 1">
            <a:extLst>
              <a:ext uri="{FF2B5EF4-FFF2-40B4-BE49-F238E27FC236}">
                <a16:creationId xmlns:a16="http://schemas.microsoft.com/office/drawing/2014/main" id="{76ABC339-122E-A2BC-02F6-54EF85603427}"/>
              </a:ext>
            </a:extLst>
          </p:cNvPr>
          <p:cNvSpPr/>
          <p:nvPr/>
        </p:nvSpPr>
        <p:spPr>
          <a:xfrm>
            <a:off x="11235559" y="136634"/>
            <a:ext cx="819807" cy="819807"/>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LO2</a:t>
            </a:r>
          </a:p>
        </p:txBody>
      </p:sp>
    </p:spTree>
    <p:extLst>
      <p:ext uri="{BB962C8B-B14F-4D97-AF65-F5344CB8AC3E}">
        <p14:creationId xmlns:p14="http://schemas.microsoft.com/office/powerpoint/2010/main" val="1723466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15038-F929-6690-39B0-A7E5AF45B0C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D2886C8-2B31-7CF2-E1B5-632FA6922593}"/>
              </a:ext>
            </a:extLst>
          </p:cNvPr>
          <p:cNvPicPr>
            <a:picLocks noChangeAspect="1"/>
          </p:cNvPicPr>
          <p:nvPr/>
        </p:nvPicPr>
        <p:blipFill>
          <a:blip r:embed="rId2"/>
          <a:stretch>
            <a:fillRect/>
          </a:stretch>
        </p:blipFill>
        <p:spPr>
          <a:xfrm>
            <a:off x="604595" y="1864328"/>
            <a:ext cx="10977805" cy="1246733"/>
          </a:xfrm>
          <a:prstGeom prst="rect">
            <a:avLst/>
          </a:prstGeom>
          <a:ln>
            <a:solidFill>
              <a:schemeClr val="tx1"/>
            </a:solidFill>
          </a:ln>
        </p:spPr>
      </p:pic>
      <p:pic>
        <p:nvPicPr>
          <p:cNvPr id="7" name="Picture 6">
            <a:extLst>
              <a:ext uri="{FF2B5EF4-FFF2-40B4-BE49-F238E27FC236}">
                <a16:creationId xmlns:a16="http://schemas.microsoft.com/office/drawing/2014/main" id="{5A683A15-2FDF-0754-ACBE-7CBC38D074B0}"/>
              </a:ext>
            </a:extLst>
          </p:cNvPr>
          <p:cNvPicPr>
            <a:picLocks noChangeAspect="1"/>
          </p:cNvPicPr>
          <p:nvPr/>
        </p:nvPicPr>
        <p:blipFill>
          <a:blip r:embed="rId3"/>
          <a:stretch>
            <a:fillRect/>
          </a:stretch>
        </p:blipFill>
        <p:spPr>
          <a:xfrm>
            <a:off x="604595" y="3429000"/>
            <a:ext cx="10977805" cy="1773338"/>
          </a:xfrm>
          <a:prstGeom prst="rect">
            <a:avLst/>
          </a:prstGeom>
          <a:ln>
            <a:solidFill>
              <a:schemeClr val="tx1"/>
            </a:solidFill>
          </a:ln>
        </p:spPr>
      </p:pic>
      <p:sp>
        <p:nvSpPr>
          <p:cNvPr id="3" name="TextBox 2">
            <a:extLst>
              <a:ext uri="{FF2B5EF4-FFF2-40B4-BE49-F238E27FC236}">
                <a16:creationId xmlns:a16="http://schemas.microsoft.com/office/drawing/2014/main" id="{2FA43B02-A710-C633-9EAA-1A38D5F8A65B}"/>
              </a:ext>
            </a:extLst>
          </p:cNvPr>
          <p:cNvSpPr txBox="1"/>
          <p:nvPr/>
        </p:nvSpPr>
        <p:spPr>
          <a:xfrm>
            <a:off x="515007" y="578719"/>
            <a:ext cx="6096000" cy="400110"/>
          </a:xfrm>
          <a:prstGeom prst="rect">
            <a:avLst/>
          </a:prstGeom>
          <a:noFill/>
        </p:spPr>
        <p:txBody>
          <a:bodyPr wrap="square">
            <a:spAutoFit/>
          </a:bodyPr>
          <a:lstStyle/>
          <a:p>
            <a:r>
              <a:rPr lang="en-US" sz="2000" dirty="0">
                <a:latin typeface="VCR OSD Mono" panose="02000609000000000000" pitchFamily="49" charset="0"/>
              </a:rPr>
              <a:t>MACHINE_ENCODED_INPUT.CSV</a:t>
            </a:r>
          </a:p>
        </p:txBody>
      </p:sp>
      <p:sp>
        <p:nvSpPr>
          <p:cNvPr id="2" name="Oval 1">
            <a:extLst>
              <a:ext uri="{FF2B5EF4-FFF2-40B4-BE49-F238E27FC236}">
                <a16:creationId xmlns:a16="http://schemas.microsoft.com/office/drawing/2014/main" id="{DF57F769-6342-C488-0349-C45395F11A1E}"/>
              </a:ext>
            </a:extLst>
          </p:cNvPr>
          <p:cNvSpPr/>
          <p:nvPr/>
        </p:nvSpPr>
        <p:spPr>
          <a:xfrm>
            <a:off x="11235559" y="136634"/>
            <a:ext cx="819807" cy="819807"/>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LO2</a:t>
            </a:r>
          </a:p>
        </p:txBody>
      </p:sp>
    </p:spTree>
    <p:extLst>
      <p:ext uri="{BB962C8B-B14F-4D97-AF65-F5344CB8AC3E}">
        <p14:creationId xmlns:p14="http://schemas.microsoft.com/office/powerpoint/2010/main" val="3550475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96515-EF25-BAAE-2BDE-218764653A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A7DC779-78A9-BB10-9CD7-1E6A7CD0AE03}"/>
              </a:ext>
            </a:extLst>
          </p:cNvPr>
          <p:cNvSpPr txBox="1"/>
          <p:nvPr/>
        </p:nvSpPr>
        <p:spPr>
          <a:xfrm>
            <a:off x="515007" y="587844"/>
            <a:ext cx="6096000" cy="400110"/>
          </a:xfrm>
          <a:prstGeom prst="rect">
            <a:avLst/>
          </a:prstGeom>
          <a:noFill/>
        </p:spPr>
        <p:txBody>
          <a:bodyPr wrap="square">
            <a:spAutoFit/>
          </a:bodyPr>
          <a:lstStyle/>
          <a:p>
            <a:r>
              <a:rPr lang="en-US" sz="2000" dirty="0">
                <a:latin typeface="VCR OSD Mono" panose="02000609000000000000" pitchFamily="49" charset="0"/>
              </a:rPr>
              <a:t>MODEL SELECTION</a:t>
            </a:r>
          </a:p>
        </p:txBody>
      </p:sp>
      <p:sp>
        <p:nvSpPr>
          <p:cNvPr id="5" name="TextBox 4">
            <a:extLst>
              <a:ext uri="{FF2B5EF4-FFF2-40B4-BE49-F238E27FC236}">
                <a16:creationId xmlns:a16="http://schemas.microsoft.com/office/drawing/2014/main" id="{7A169CE2-1780-4078-84CD-F3D45BCA9765}"/>
              </a:ext>
            </a:extLst>
          </p:cNvPr>
          <p:cNvSpPr txBox="1"/>
          <p:nvPr/>
        </p:nvSpPr>
        <p:spPr>
          <a:xfrm>
            <a:off x="515007" y="957176"/>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Why </a:t>
            </a:r>
            <a:r>
              <a:rPr lang="en-US" sz="1000" i="1" dirty="0" err="1">
                <a:latin typeface="JetBrainsMono NF" panose="02000009000000000000" pitchFamily="50" charset="0"/>
                <a:ea typeface="JetBrainsMono NF" panose="02000009000000000000" pitchFamily="50" charset="0"/>
                <a:cs typeface="JetBrainsMono NF" panose="02000009000000000000" pitchFamily="50" charset="0"/>
              </a:rPr>
              <a:t>XGBoost</a:t>
            </a:r>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 over Logistic Regression?</a:t>
            </a:r>
          </a:p>
        </p:txBody>
      </p:sp>
      <p:sp>
        <p:nvSpPr>
          <p:cNvPr id="7" name="TextBox 6">
            <a:extLst>
              <a:ext uri="{FF2B5EF4-FFF2-40B4-BE49-F238E27FC236}">
                <a16:creationId xmlns:a16="http://schemas.microsoft.com/office/drawing/2014/main" id="{7F40526E-5E32-3956-2D66-FD7A25EAEE86}"/>
              </a:ext>
            </a:extLst>
          </p:cNvPr>
          <p:cNvSpPr txBox="1"/>
          <p:nvPr/>
        </p:nvSpPr>
        <p:spPr>
          <a:xfrm>
            <a:off x="672661" y="2203130"/>
            <a:ext cx="5265684" cy="3349700"/>
          </a:xfrm>
          <a:prstGeom prst="rect">
            <a:avLst/>
          </a:prstGeom>
          <a:noFill/>
        </p:spPr>
        <p:txBody>
          <a:bodyPr wrap="square">
            <a:spAutoFit/>
          </a:bodyPr>
          <a:lstStyle/>
          <a:p>
            <a:pPr algn="just">
              <a:lnSpc>
                <a:spcPct val="200000"/>
              </a:lnSpc>
              <a:buNone/>
            </a:pPr>
            <a:r>
              <a:rPr lang="en-US" sz="1200" b="1" dirty="0">
                <a:latin typeface="Alliance No.2 Light" panose="00000400000000000000" pitchFamily="50" charset="0"/>
                <a:ea typeface="JetBrainsMono NF" panose="02000009000000000000" pitchFamily="50" charset="0"/>
                <a:cs typeface="JetBrainsMono NF" panose="02000009000000000000" pitchFamily="50" charset="0"/>
              </a:rPr>
              <a:t>Reason 1: Handling Class Imbalance:</a:t>
            </a:r>
          </a:p>
          <a:p>
            <a:pPr algn="just">
              <a:lnSpc>
                <a:spcPct val="200000"/>
              </a:lnSpc>
              <a:buNone/>
            </a:pPr>
            <a:endParaRPr lang="en-US" sz="1200" dirty="0">
              <a:latin typeface="Alliance No.2 Light" panose="00000400000000000000" pitchFamily="50" charset="0"/>
              <a:ea typeface="JetBrainsMono NF" panose="02000009000000000000" pitchFamily="50" charset="0"/>
              <a:cs typeface="JetBrainsMono NF" panose="02000009000000000000" pitchFamily="50" charset="0"/>
            </a:endParaRPr>
          </a:p>
          <a:p>
            <a:pPr marL="285750" indent="-285750" algn="just">
              <a:lnSpc>
                <a:spcPct val="200000"/>
              </a:lnSpc>
              <a:buFont typeface="Arial" panose="020B0604020202020204" pitchFamily="34" charset="0"/>
              <a:buChar char="•"/>
            </a:pPr>
            <a:r>
              <a:rPr lang="en-US" sz="1200" dirty="0">
                <a:latin typeface="Alliance No.2 Light" panose="00000400000000000000" pitchFamily="50" charset="0"/>
                <a:ea typeface="JetBrainsMono NF" panose="02000009000000000000" pitchFamily="50" charset="0"/>
                <a:cs typeface="JetBrainsMono NF" panose="02000009000000000000" pitchFamily="50" charset="0"/>
              </a:rPr>
              <a:t>Criminal datasets are inherently imbalanced (recidivists are the minority). Traditional regression biases towards the majority class (innocents).</a:t>
            </a:r>
          </a:p>
          <a:p>
            <a:pPr marL="285750" indent="-285750" algn="just">
              <a:lnSpc>
                <a:spcPct val="200000"/>
              </a:lnSpc>
              <a:buFont typeface="Arial" panose="020B0604020202020204" pitchFamily="34" charset="0"/>
              <a:buChar char="•"/>
            </a:pPr>
            <a:endParaRPr lang="en-US" sz="1200" dirty="0">
              <a:latin typeface="Alliance No.2 Light" panose="00000400000000000000" pitchFamily="50" charset="0"/>
              <a:ea typeface="JetBrainsMono NF" panose="02000009000000000000" pitchFamily="50" charset="0"/>
              <a:cs typeface="JetBrainsMono NF" panose="02000009000000000000" pitchFamily="50" charset="0"/>
            </a:endParaRPr>
          </a:p>
          <a:p>
            <a:pPr marL="285750" indent="-285750" algn="just">
              <a:lnSpc>
                <a:spcPct val="200000"/>
              </a:lnSpc>
              <a:buFont typeface="Arial" panose="020B0604020202020204" pitchFamily="34" charset="0"/>
              <a:buChar char="•"/>
            </a:pPr>
            <a:r>
              <a:rPr lang="en-US" sz="1200" b="1" dirty="0">
                <a:latin typeface="Alliance No.2 Light" panose="00000400000000000000" pitchFamily="50" charset="0"/>
                <a:ea typeface="JetBrainsMono NF" panose="02000009000000000000" pitchFamily="50" charset="0"/>
                <a:cs typeface="JetBrainsMono NF" panose="02000009000000000000" pitchFamily="50" charset="0"/>
              </a:rPr>
              <a:t>Chen &amp; Hou (2025)</a:t>
            </a:r>
            <a:r>
              <a:rPr lang="en-US" sz="1200" dirty="0">
                <a:latin typeface="Alliance No.2 Light" panose="00000400000000000000" pitchFamily="50" charset="0"/>
                <a:ea typeface="JetBrainsMono NF" panose="02000009000000000000" pitchFamily="50" charset="0"/>
                <a:cs typeface="JetBrainsMono NF" panose="02000009000000000000" pitchFamily="50" charset="0"/>
              </a:rPr>
              <a:t> argue that advanced ML-based imbalanced learning methods are required to accurately detect the minority class in recidivism cases.</a:t>
            </a:r>
          </a:p>
        </p:txBody>
      </p:sp>
      <p:sp>
        <p:nvSpPr>
          <p:cNvPr id="9" name="TextBox 8">
            <a:extLst>
              <a:ext uri="{FF2B5EF4-FFF2-40B4-BE49-F238E27FC236}">
                <a16:creationId xmlns:a16="http://schemas.microsoft.com/office/drawing/2014/main" id="{E6DC474A-1794-525E-4398-3192C4598B19}"/>
              </a:ext>
            </a:extLst>
          </p:cNvPr>
          <p:cNvSpPr txBox="1"/>
          <p:nvPr/>
        </p:nvSpPr>
        <p:spPr>
          <a:xfrm>
            <a:off x="6253657" y="2203130"/>
            <a:ext cx="5192110" cy="2611036"/>
          </a:xfrm>
          <a:prstGeom prst="rect">
            <a:avLst/>
          </a:prstGeom>
          <a:noFill/>
        </p:spPr>
        <p:txBody>
          <a:bodyPr wrap="square">
            <a:spAutoFit/>
          </a:bodyPr>
          <a:lstStyle/>
          <a:p>
            <a:pPr algn="just">
              <a:lnSpc>
                <a:spcPct val="200000"/>
              </a:lnSpc>
              <a:buNone/>
            </a:pPr>
            <a:r>
              <a:rPr lang="en-US" sz="1200" b="1" dirty="0">
                <a:latin typeface="Alliance No.2 Light" panose="00000400000000000000" pitchFamily="50" charset="0"/>
                <a:ea typeface="JetBrainsMono NF" panose="02000009000000000000" pitchFamily="50" charset="0"/>
                <a:cs typeface="JetBrainsMono NF" panose="02000009000000000000" pitchFamily="50" charset="0"/>
              </a:rPr>
              <a:t>Reason 2: High-Dimensional Complexity:</a:t>
            </a:r>
          </a:p>
          <a:p>
            <a:pPr algn="just">
              <a:lnSpc>
                <a:spcPct val="200000"/>
              </a:lnSpc>
              <a:buNone/>
            </a:pPr>
            <a:endParaRPr lang="en-US" sz="1200" dirty="0">
              <a:latin typeface="Alliance No.2 Light" panose="00000400000000000000" pitchFamily="50" charset="0"/>
              <a:ea typeface="JetBrainsMono NF" panose="02000009000000000000" pitchFamily="50" charset="0"/>
              <a:cs typeface="JetBrainsMono NF" panose="02000009000000000000" pitchFamily="50" charset="0"/>
            </a:endParaRPr>
          </a:p>
          <a:p>
            <a:pPr marL="285750" indent="-285750" algn="just">
              <a:lnSpc>
                <a:spcPct val="200000"/>
              </a:lnSpc>
              <a:buFont typeface="Arial" panose="020B0604020202020204" pitchFamily="34" charset="0"/>
              <a:buChar char="•"/>
            </a:pPr>
            <a:r>
              <a:rPr lang="en-US" sz="1200" dirty="0">
                <a:latin typeface="Alliance No.2 Light" panose="00000400000000000000" pitchFamily="50" charset="0"/>
                <a:ea typeface="JetBrainsMono NF" panose="02000009000000000000" pitchFamily="50" charset="0"/>
                <a:cs typeface="JetBrainsMono NF" panose="02000009000000000000" pitchFamily="50" charset="0"/>
              </a:rPr>
              <a:t>Our dataset fuses multi-modal data (Biometrics + Networks).</a:t>
            </a:r>
          </a:p>
          <a:p>
            <a:pPr marL="285750" indent="-285750" algn="just">
              <a:lnSpc>
                <a:spcPct val="200000"/>
              </a:lnSpc>
              <a:buFont typeface="Arial" panose="020B0604020202020204" pitchFamily="34" charset="0"/>
              <a:buChar char="•"/>
            </a:pPr>
            <a:endParaRPr lang="en-US" sz="1200" dirty="0">
              <a:latin typeface="Alliance No.2 Light" panose="00000400000000000000" pitchFamily="50" charset="0"/>
              <a:ea typeface="JetBrainsMono NF" panose="02000009000000000000" pitchFamily="50" charset="0"/>
              <a:cs typeface="JetBrainsMono NF" panose="02000009000000000000" pitchFamily="50" charset="0"/>
            </a:endParaRPr>
          </a:p>
          <a:p>
            <a:pPr marL="285750" indent="-285750" algn="just">
              <a:lnSpc>
                <a:spcPct val="200000"/>
              </a:lnSpc>
              <a:buFont typeface="Arial" panose="020B0604020202020204" pitchFamily="34" charset="0"/>
              <a:buChar char="•"/>
            </a:pPr>
            <a:r>
              <a:rPr lang="en-US" sz="1200" b="1" dirty="0" err="1">
                <a:latin typeface="Alliance No.2 Light" panose="00000400000000000000" pitchFamily="50" charset="0"/>
                <a:ea typeface="JetBrainsMono NF" panose="02000009000000000000" pitchFamily="50" charset="0"/>
                <a:cs typeface="JetBrainsMono NF" panose="02000009000000000000" pitchFamily="50" charset="0"/>
              </a:rPr>
              <a:t>Huamantingo</a:t>
            </a:r>
            <a:r>
              <a:rPr lang="en-US" sz="1200" b="1" dirty="0">
                <a:latin typeface="Alliance No.2 Light" panose="00000400000000000000" pitchFamily="50" charset="0"/>
                <a:ea typeface="JetBrainsMono NF" panose="02000009000000000000" pitchFamily="50" charset="0"/>
                <a:cs typeface="JetBrainsMono NF" panose="02000009000000000000" pitchFamily="50" charset="0"/>
              </a:rPr>
              <a:t> et al. (2025)</a:t>
            </a:r>
            <a:r>
              <a:rPr lang="en-US" sz="1200" dirty="0">
                <a:latin typeface="Alliance No.2 Light" panose="00000400000000000000" pitchFamily="50" charset="0"/>
                <a:ea typeface="JetBrainsMono NF" panose="02000009000000000000" pitchFamily="50" charset="0"/>
                <a:cs typeface="JetBrainsMono NF" panose="02000009000000000000" pitchFamily="50" charset="0"/>
              </a:rPr>
              <a:t> emphasize that robust ML models (like Boosting) are necessary to bridge the gap between theoretical crime prediction and real-world implementation.</a:t>
            </a:r>
          </a:p>
        </p:txBody>
      </p:sp>
      <p:sp>
        <p:nvSpPr>
          <p:cNvPr id="11" name="TextBox 10">
            <a:extLst>
              <a:ext uri="{FF2B5EF4-FFF2-40B4-BE49-F238E27FC236}">
                <a16:creationId xmlns:a16="http://schemas.microsoft.com/office/drawing/2014/main" id="{F88D6D97-C414-6B61-05F7-9CAD6825CEB7}"/>
              </a:ext>
            </a:extLst>
          </p:cNvPr>
          <p:cNvSpPr txBox="1"/>
          <p:nvPr/>
        </p:nvSpPr>
        <p:spPr>
          <a:xfrm>
            <a:off x="9659007" y="6611779"/>
            <a:ext cx="2532993" cy="246221"/>
          </a:xfrm>
          <a:prstGeom prst="rect">
            <a:avLst/>
          </a:prstGeom>
          <a:noFill/>
        </p:spPr>
        <p:txBody>
          <a:bodyPr wrap="square">
            <a:spAutoFit/>
          </a:bodyPr>
          <a:lstStyle/>
          <a:p>
            <a:r>
              <a:rPr lang="en-US" sz="1000" i="1" dirty="0"/>
              <a:t>(Chen and Hou, 2025; </a:t>
            </a:r>
            <a:r>
              <a:rPr lang="en-US" sz="1000" i="1" dirty="0" err="1"/>
              <a:t>Huamantingo</a:t>
            </a:r>
            <a:r>
              <a:rPr lang="en-US" sz="1000" i="1" dirty="0"/>
              <a:t>, 2025</a:t>
            </a:r>
          </a:p>
        </p:txBody>
      </p:sp>
      <p:sp>
        <p:nvSpPr>
          <p:cNvPr id="2" name="Oval 1">
            <a:extLst>
              <a:ext uri="{FF2B5EF4-FFF2-40B4-BE49-F238E27FC236}">
                <a16:creationId xmlns:a16="http://schemas.microsoft.com/office/drawing/2014/main" id="{3F0D3EB1-79FE-3A14-11B8-87E73B1449F2}"/>
              </a:ext>
            </a:extLst>
          </p:cNvPr>
          <p:cNvSpPr/>
          <p:nvPr/>
        </p:nvSpPr>
        <p:spPr>
          <a:xfrm>
            <a:off x="11235559" y="136634"/>
            <a:ext cx="819807" cy="819807"/>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LO2</a:t>
            </a:r>
          </a:p>
        </p:txBody>
      </p:sp>
    </p:spTree>
    <p:extLst>
      <p:ext uri="{BB962C8B-B14F-4D97-AF65-F5344CB8AC3E}">
        <p14:creationId xmlns:p14="http://schemas.microsoft.com/office/powerpoint/2010/main" val="2965479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322E4-8233-79E6-D1CA-B016858A1F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B5BC5AD-2051-378D-F028-B26B03BB335F}"/>
              </a:ext>
            </a:extLst>
          </p:cNvPr>
          <p:cNvSpPr txBox="1"/>
          <p:nvPr/>
        </p:nvSpPr>
        <p:spPr>
          <a:xfrm>
            <a:off x="525516" y="587843"/>
            <a:ext cx="7324959" cy="400110"/>
          </a:xfrm>
          <a:prstGeom prst="rect">
            <a:avLst/>
          </a:prstGeom>
          <a:noFill/>
        </p:spPr>
        <p:txBody>
          <a:bodyPr wrap="square">
            <a:spAutoFit/>
          </a:bodyPr>
          <a:lstStyle/>
          <a:p>
            <a:r>
              <a:rPr lang="en-US" sz="2000" dirty="0">
                <a:latin typeface="VCR OSD Mono" panose="02000609000000000000" pitchFamily="49" charset="0"/>
              </a:rPr>
              <a:t>EXPERIMENTAL SETUP &amp; IMPLEMENTATION STRATEGY</a:t>
            </a:r>
          </a:p>
        </p:txBody>
      </p:sp>
      <p:sp>
        <p:nvSpPr>
          <p:cNvPr id="4" name="Rectangle 1">
            <a:extLst>
              <a:ext uri="{FF2B5EF4-FFF2-40B4-BE49-F238E27FC236}">
                <a16:creationId xmlns:a16="http://schemas.microsoft.com/office/drawing/2014/main" id="{11452D39-5296-D65C-EE39-3431346DFCB6}"/>
              </a:ext>
            </a:extLst>
          </p:cNvPr>
          <p:cNvSpPr>
            <a:spLocks noChangeArrowheads="1"/>
          </p:cNvSpPr>
          <p:nvPr/>
        </p:nvSpPr>
        <p:spPr bwMode="auto">
          <a:xfrm>
            <a:off x="525516" y="1235233"/>
            <a:ext cx="7324960" cy="5565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Development Environment:</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Platform: Google </a:t>
            </a:r>
            <a:r>
              <a:rPr kumimoji="0" lang="en-US" altLang="en-US" sz="1200" i="0" u="none" strike="noStrike" cap="none" normalizeH="0" baseline="0" dirty="0" err="1">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Colab</a:t>
            </a:r>
            <a:endPar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Core Libraries: Pandas (Data Manipulation), Scikit-Learn (Model Evaluation), </a:t>
            </a:r>
            <a:r>
              <a:rPr kumimoji="0" lang="en-US" altLang="en-US" sz="1200" i="0" u="none" strike="noStrike" cap="none" normalizeH="0" baseline="0" dirty="0" err="1">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XGBoost</a:t>
            </a:r>
            <a:r>
              <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t>
            </a:r>
          </a:p>
          <a:p>
            <a:pPr marL="0" marR="0" lvl="0" indent="0" algn="just" defTabSz="914400" rtl="0" eaLnBrk="0" fontAlgn="base" latinLnBrk="0" hangingPunct="0">
              <a:lnSpc>
                <a:spcPct val="200000"/>
              </a:lnSpc>
              <a:spcBef>
                <a:spcPct val="0"/>
              </a:spcBef>
              <a:spcAft>
                <a:spcPct val="0"/>
              </a:spcAft>
              <a:buClrTx/>
              <a:buSzTx/>
              <a:tabLst/>
            </a:pPr>
            <a:endPar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Data Partitioning Strategy:</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Training Set (70%): </a:t>
            </a:r>
            <a:r>
              <a:rPr lang="en-US" altLang="en-US" sz="1200" dirty="0">
                <a:latin typeface="Alliance No.2 Light" panose="00000400000000000000" pitchFamily="50" charset="0"/>
                <a:ea typeface="JetBrainsMono NF" panose="02000009000000000000" pitchFamily="50" charset="0"/>
                <a:cs typeface="JetBrainsMono NF" panose="02000009000000000000" pitchFamily="50" charset="0"/>
              </a:rPr>
              <a:t>T</a:t>
            </a:r>
            <a:r>
              <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each complex patterns between </a:t>
            </a:r>
            <a:r>
              <a:rPr kumimoji="0" lang="en-US" altLang="en-US" sz="120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Network Size</a:t>
            </a:r>
            <a:r>
              <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a:t>
            </a:r>
            <a:r>
              <a:rPr kumimoji="0" lang="en-US" altLang="en-US" sz="120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Gait Score</a:t>
            </a:r>
            <a:r>
              <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and </a:t>
            </a:r>
            <a:r>
              <a:rPr kumimoji="0" lang="en-US" altLang="en-US" sz="120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Recidivism</a:t>
            </a:r>
            <a:r>
              <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Testing Set (30%): To simulate how the model would perform on new suspects in the real world.</a:t>
            </a:r>
          </a:p>
          <a:p>
            <a:pPr marL="0" marR="0" lvl="0" indent="0" algn="just" defTabSz="914400" rtl="0" eaLnBrk="0" fontAlgn="base" latinLnBrk="0" hangingPunct="0">
              <a:lnSpc>
                <a:spcPct val="200000"/>
              </a:lnSpc>
              <a:spcBef>
                <a:spcPct val="0"/>
              </a:spcBef>
              <a:spcAft>
                <a:spcPct val="0"/>
              </a:spcAft>
              <a:buClrTx/>
              <a:buSzTx/>
              <a:tabLst/>
            </a:pPr>
            <a:endPar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The "Rare Event" Challenge (Class Imbalance):</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Problem: Criminals are the "Minority Class" (approx. 20–30% of the population).</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Risk: Standard models often ignore the minority and predict "Safe" for everyone to achieve high accuracy.</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Solution: We selected </a:t>
            </a:r>
            <a:r>
              <a:rPr kumimoji="0" lang="en-US" altLang="en-US" sz="1200" i="0" u="none" strike="noStrike" cap="none" normalizeH="0" baseline="0" dirty="0" err="1">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XGBoost</a:t>
            </a:r>
            <a:r>
              <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specifically for its ability to assign higher weight to these rare "Positive Class" events.</a:t>
            </a:r>
          </a:p>
          <a:p>
            <a:pPr marL="0" marR="0" lvl="0" indent="0" algn="just" defTabSz="914400" rtl="0" eaLnBrk="0" fontAlgn="base" latinLnBrk="0" hangingPunct="0">
              <a:lnSpc>
                <a:spcPct val="200000"/>
              </a:lnSpc>
              <a:spcBef>
                <a:spcPct val="0"/>
              </a:spcBef>
              <a:spcAft>
                <a:spcPct val="0"/>
              </a:spcAft>
              <a:buClrTx/>
              <a:buSzTx/>
              <a:buFontTx/>
              <a:buNone/>
              <a:tabLst/>
            </a:pPr>
            <a:endParaRPr kumimoji="0" lang="en-US" altLang="en-US" sz="120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p:txBody>
      </p:sp>
      <p:pic>
        <p:nvPicPr>
          <p:cNvPr id="5" name="Picture 4">
            <a:extLst>
              <a:ext uri="{FF2B5EF4-FFF2-40B4-BE49-F238E27FC236}">
                <a16:creationId xmlns:a16="http://schemas.microsoft.com/office/drawing/2014/main" id="{59F5101E-D5CD-0709-E0DE-8236AC62C5B5}"/>
              </a:ext>
            </a:extLst>
          </p:cNvPr>
          <p:cNvPicPr>
            <a:picLocks noChangeAspect="1"/>
          </p:cNvPicPr>
          <p:nvPr/>
        </p:nvPicPr>
        <p:blipFill>
          <a:blip r:embed="rId3"/>
          <a:stretch>
            <a:fillRect/>
          </a:stretch>
        </p:blipFill>
        <p:spPr>
          <a:xfrm>
            <a:off x="8397765" y="825719"/>
            <a:ext cx="9256111" cy="52065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Oval 1">
            <a:extLst>
              <a:ext uri="{FF2B5EF4-FFF2-40B4-BE49-F238E27FC236}">
                <a16:creationId xmlns:a16="http://schemas.microsoft.com/office/drawing/2014/main" id="{738F8E53-9E04-985F-07B8-85C348BA1730}"/>
              </a:ext>
            </a:extLst>
          </p:cNvPr>
          <p:cNvSpPr/>
          <p:nvPr/>
        </p:nvSpPr>
        <p:spPr>
          <a:xfrm>
            <a:off x="11235559" y="136634"/>
            <a:ext cx="819807" cy="819807"/>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LO2</a:t>
            </a:r>
          </a:p>
        </p:txBody>
      </p:sp>
    </p:spTree>
    <p:extLst>
      <p:ext uri="{BB962C8B-B14F-4D97-AF65-F5344CB8AC3E}">
        <p14:creationId xmlns:p14="http://schemas.microsoft.com/office/powerpoint/2010/main" val="1552122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BD4F0-04B2-DE9C-F297-003F7E17BC5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02A84EA-8F0C-29E9-198D-52E875F404ED}"/>
              </a:ext>
            </a:extLst>
          </p:cNvPr>
          <p:cNvSpPr txBox="1"/>
          <p:nvPr/>
        </p:nvSpPr>
        <p:spPr>
          <a:xfrm>
            <a:off x="504496" y="577333"/>
            <a:ext cx="6096000" cy="400110"/>
          </a:xfrm>
          <a:prstGeom prst="rect">
            <a:avLst/>
          </a:prstGeom>
          <a:noFill/>
        </p:spPr>
        <p:txBody>
          <a:bodyPr wrap="square">
            <a:spAutoFit/>
          </a:bodyPr>
          <a:lstStyle/>
          <a:p>
            <a:r>
              <a:rPr lang="en-US" sz="2000" dirty="0">
                <a:latin typeface="VCR OSD Mono" panose="02000609000000000000" pitchFamily="49" charset="0"/>
              </a:rPr>
              <a:t>PERFORMANCE EVALUATION</a:t>
            </a:r>
          </a:p>
        </p:txBody>
      </p:sp>
      <p:sp>
        <p:nvSpPr>
          <p:cNvPr id="5" name="TextBox 4">
            <a:extLst>
              <a:ext uri="{FF2B5EF4-FFF2-40B4-BE49-F238E27FC236}">
                <a16:creationId xmlns:a16="http://schemas.microsoft.com/office/drawing/2014/main" id="{471263CA-6438-ED06-6469-F01C26E67BD9}"/>
              </a:ext>
            </a:extLst>
          </p:cNvPr>
          <p:cNvSpPr txBox="1"/>
          <p:nvPr/>
        </p:nvSpPr>
        <p:spPr>
          <a:xfrm>
            <a:off x="504496" y="946665"/>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Accuracy &amp; Reliability</a:t>
            </a:r>
          </a:p>
        </p:txBody>
      </p:sp>
      <p:sp>
        <p:nvSpPr>
          <p:cNvPr id="6" name="Rectangle 1">
            <a:extLst>
              <a:ext uri="{FF2B5EF4-FFF2-40B4-BE49-F238E27FC236}">
                <a16:creationId xmlns:a16="http://schemas.microsoft.com/office/drawing/2014/main" id="{243937BC-C379-3D5A-9545-F301235308E4}"/>
              </a:ext>
            </a:extLst>
          </p:cNvPr>
          <p:cNvSpPr>
            <a:spLocks noChangeArrowheads="1"/>
          </p:cNvSpPr>
          <p:nvPr/>
        </p:nvSpPr>
        <p:spPr bwMode="auto">
          <a:xfrm>
            <a:off x="504496" y="1403050"/>
            <a:ext cx="11056884" cy="4220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High Overall Accuracy (94%):</a:t>
            </a:r>
            <a:endPar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171450" marR="0" lvl="0"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The model correctly identified the risk level for </a:t>
            </a:r>
            <a:r>
              <a:rPr kumimoji="0" lang="en-US" altLang="en-US" sz="1200" b="1"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282 out of 300</a:t>
            </a:r>
            <a:r>
              <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 suspects in the test set.</a:t>
            </a:r>
          </a:p>
          <a:p>
            <a:pPr marL="171450" marR="0" lvl="0"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1"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Validation:</a:t>
            </a:r>
            <a:r>
              <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 This confirms that fusing "Biometrics" with "Network Analysis" provides a strong predictive signal.</a:t>
            </a:r>
          </a:p>
          <a:p>
            <a:pPr marL="171450" marR="0" lvl="0"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Balanced Performance (Class 1 - Recidivists):</a:t>
            </a:r>
            <a:endParaRPr kumimoji="0" lang="en-US" altLang="en-US" sz="1200" b="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Recall (0.84):</a:t>
            </a:r>
            <a:r>
              <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 We successfully caught </a:t>
            </a:r>
            <a:r>
              <a:rPr kumimoji="0" lang="en-US" altLang="en-US" sz="1200" b="1"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84%</a:t>
            </a:r>
            <a:r>
              <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 of the actual repeat offenders.</a:t>
            </a:r>
          </a:p>
          <a:p>
            <a:pPr marL="628650" marR="0" lvl="1"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1"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Policing Impact:</a:t>
            </a:r>
            <a:r>
              <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 High public safety.</a:t>
            </a:r>
          </a:p>
          <a:p>
            <a:pPr marR="0" lvl="1" algn="just" defTabSz="914400" rtl="0" eaLnBrk="0" fontAlgn="base" latinLnBrk="0" hangingPunct="0">
              <a:lnSpc>
                <a:spcPct val="150000"/>
              </a:lnSpc>
              <a:spcBef>
                <a:spcPct val="0"/>
              </a:spcBef>
              <a:spcAft>
                <a:spcPct val="0"/>
              </a:spcAft>
              <a:buClrTx/>
              <a:buSzTx/>
              <a:tabLst/>
            </a:pPr>
            <a:endPar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Precision (0.84):</a:t>
            </a:r>
            <a:r>
              <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 When the model flagged a suspect, it was correct </a:t>
            </a:r>
            <a:r>
              <a:rPr kumimoji="0" lang="en-US" altLang="en-US" sz="1200" b="1"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84%</a:t>
            </a:r>
            <a:r>
              <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 of the time.</a:t>
            </a:r>
          </a:p>
          <a:p>
            <a:pPr marL="628650" lvl="1" indent="-171450" algn="just" eaLnBrk="0" fontAlgn="base" hangingPunct="0">
              <a:lnSpc>
                <a:spcPct val="150000"/>
              </a:lnSpc>
              <a:spcBef>
                <a:spcPct val="0"/>
              </a:spcBef>
              <a:spcAft>
                <a:spcPct val="0"/>
              </a:spcAft>
              <a:buFont typeface="Arial" panose="020B0604020202020204" pitchFamily="34" charset="0"/>
              <a:buChar char="•"/>
            </a:pPr>
            <a:r>
              <a:rPr kumimoji="0" lang="en-US" altLang="en-US" sz="1200" b="0" i="1"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Civil Rights Impact:</a:t>
            </a:r>
            <a:r>
              <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 Low rate of false accusations, ensuring fair treatment.</a:t>
            </a:r>
          </a:p>
          <a:p>
            <a:pPr marL="628650" lvl="1" indent="-171450" algn="just" eaLnBrk="0" fontAlgn="base" hangingPunct="0">
              <a:lnSpc>
                <a:spcPct val="150000"/>
              </a:lnSpc>
              <a:spcBef>
                <a:spcPct val="0"/>
              </a:spcBef>
              <a:spcAft>
                <a:spcPct val="0"/>
              </a:spcAft>
              <a:buFont typeface="Arial" panose="020B0604020202020204" pitchFamily="34" charset="0"/>
              <a:buChar char="•"/>
            </a:pPr>
            <a:endPar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The F1-Score (0.84):</a:t>
            </a:r>
            <a:endPar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The harmonic mean of Precision and Recall indicates a stable </a:t>
            </a:r>
            <a:endParaRPr lang="en-US" altLang="en-US" sz="1200" dirty="0">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rPr>
              <a:t>and reliable model for real-world deployment.</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200" b="0" i="0" u="none" strike="noStrike" cap="none" normalizeH="0" baseline="0" dirty="0">
              <a:ln>
                <a:noFill/>
              </a:ln>
              <a:effectLst/>
              <a:latin typeface="Alliance No.2 Light" panose="00000400000000000000" pitchFamily="50" charset="0"/>
              <a:ea typeface="JetBrainsMono NF" panose="02000009000000000000" pitchFamily="50" charset="0"/>
              <a:cs typeface="JetBrainsMono NF" panose="02000009000000000000" pitchFamily="50" charset="0"/>
            </a:endParaRPr>
          </a:p>
        </p:txBody>
      </p:sp>
      <p:pic>
        <p:nvPicPr>
          <p:cNvPr id="8" name="Picture 7">
            <a:extLst>
              <a:ext uri="{FF2B5EF4-FFF2-40B4-BE49-F238E27FC236}">
                <a16:creationId xmlns:a16="http://schemas.microsoft.com/office/drawing/2014/main" id="{EC524BC5-7E27-D092-C470-C539B7314C4C}"/>
              </a:ext>
            </a:extLst>
          </p:cNvPr>
          <p:cNvPicPr>
            <a:picLocks noChangeAspect="1"/>
          </p:cNvPicPr>
          <p:nvPr/>
        </p:nvPicPr>
        <p:blipFill>
          <a:blip r:embed="rId3"/>
          <a:stretch>
            <a:fillRect/>
          </a:stretch>
        </p:blipFill>
        <p:spPr>
          <a:xfrm>
            <a:off x="7093341" y="4613762"/>
            <a:ext cx="4594163" cy="1867829"/>
          </a:xfrm>
          <a:prstGeom prst="rect">
            <a:avLst/>
          </a:prstGeom>
          <a:ln>
            <a:solidFill>
              <a:schemeClr val="tx1"/>
            </a:solidFill>
          </a:ln>
        </p:spPr>
      </p:pic>
      <p:sp>
        <p:nvSpPr>
          <p:cNvPr id="2" name="Oval 1">
            <a:extLst>
              <a:ext uri="{FF2B5EF4-FFF2-40B4-BE49-F238E27FC236}">
                <a16:creationId xmlns:a16="http://schemas.microsoft.com/office/drawing/2014/main" id="{A4AB26A2-406F-FA10-C16A-E04D0F63A499}"/>
              </a:ext>
            </a:extLst>
          </p:cNvPr>
          <p:cNvSpPr/>
          <p:nvPr/>
        </p:nvSpPr>
        <p:spPr>
          <a:xfrm>
            <a:off x="11235559" y="136634"/>
            <a:ext cx="819807" cy="819807"/>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LO2</a:t>
            </a:r>
          </a:p>
        </p:txBody>
      </p:sp>
    </p:spTree>
    <p:extLst>
      <p:ext uri="{BB962C8B-B14F-4D97-AF65-F5344CB8AC3E}">
        <p14:creationId xmlns:p14="http://schemas.microsoft.com/office/powerpoint/2010/main" val="2480688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BD0CF-671A-BC5E-FE37-AE26F8C395C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8E78CE2-B92E-A1AA-3504-3D4FF062A489}"/>
              </a:ext>
            </a:extLst>
          </p:cNvPr>
          <p:cNvPicPr>
            <a:picLocks noChangeAspect="1"/>
          </p:cNvPicPr>
          <p:nvPr/>
        </p:nvPicPr>
        <p:blipFill>
          <a:blip r:embed="rId3"/>
          <a:stretch>
            <a:fillRect/>
          </a:stretch>
        </p:blipFill>
        <p:spPr>
          <a:xfrm>
            <a:off x="7175266" y="1737309"/>
            <a:ext cx="4465346" cy="3584028"/>
          </a:xfrm>
          <a:prstGeom prst="rect">
            <a:avLst/>
          </a:prstGeom>
        </p:spPr>
      </p:pic>
      <p:sp>
        <p:nvSpPr>
          <p:cNvPr id="4" name="Rectangle 1">
            <a:extLst>
              <a:ext uri="{FF2B5EF4-FFF2-40B4-BE49-F238E27FC236}">
                <a16:creationId xmlns:a16="http://schemas.microsoft.com/office/drawing/2014/main" id="{EBF9BFD3-726E-A53E-3407-60ED5E0682C1}"/>
              </a:ext>
            </a:extLst>
          </p:cNvPr>
          <p:cNvSpPr>
            <a:spLocks noChangeArrowheads="1"/>
          </p:cNvSpPr>
          <p:nvPr/>
        </p:nvSpPr>
        <p:spPr bwMode="auto">
          <a:xfrm>
            <a:off x="551388" y="1783974"/>
            <a:ext cx="6096000" cy="3649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Model Success Rate:</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171450" marR="0" lvl="0"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True Negatives (234):</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Correctly cleared the vast majority of innocent citizens.</a:t>
            </a:r>
          </a:p>
          <a:p>
            <a:pPr marL="171450" marR="0" lvl="0"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True Positives (48):</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Successfully flagged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48 out of 57</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actual recidivists.</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Critical Error Analysis (False Negatives = 9):</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171450" marR="0" lvl="0"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The model missed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9</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high-risk individuals.</a:t>
            </a:r>
          </a:p>
          <a:p>
            <a:pPr marL="171450" marR="0" lvl="0"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Impact:</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These suspects would likely be granted bail, posing a potential threat to public safety.</a:t>
            </a: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Ethical Error Analysis (False Positives = 9):</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171450" marR="0" lvl="0"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The model wrongly flagged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9</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innocent people as "Risky."</a:t>
            </a:r>
          </a:p>
          <a:p>
            <a:pPr marL="171450" marR="0" lvl="0"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Impact:</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Risk of wrongful detention or reputational damage.</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p:txBody>
      </p:sp>
      <p:sp>
        <p:nvSpPr>
          <p:cNvPr id="6" name="TextBox 5">
            <a:extLst>
              <a:ext uri="{FF2B5EF4-FFF2-40B4-BE49-F238E27FC236}">
                <a16:creationId xmlns:a16="http://schemas.microsoft.com/office/drawing/2014/main" id="{9F5FA633-A49B-4DBB-AF78-BE0EBC186103}"/>
              </a:ext>
            </a:extLst>
          </p:cNvPr>
          <p:cNvSpPr txBox="1"/>
          <p:nvPr/>
        </p:nvSpPr>
        <p:spPr>
          <a:xfrm>
            <a:off x="551388" y="598355"/>
            <a:ext cx="6096000" cy="400110"/>
          </a:xfrm>
          <a:prstGeom prst="rect">
            <a:avLst/>
          </a:prstGeom>
          <a:noFill/>
        </p:spPr>
        <p:txBody>
          <a:bodyPr wrap="square">
            <a:spAutoFit/>
          </a:bodyPr>
          <a:lstStyle/>
          <a:p>
            <a:r>
              <a:rPr lang="en-US" sz="2000" dirty="0">
                <a:latin typeface="VCR OSD Mono" panose="02000609000000000000" pitchFamily="49" charset="0"/>
              </a:rPr>
              <a:t>CONFUSION MATRIX</a:t>
            </a:r>
          </a:p>
        </p:txBody>
      </p:sp>
      <p:sp>
        <p:nvSpPr>
          <p:cNvPr id="8" name="TextBox 7">
            <a:extLst>
              <a:ext uri="{FF2B5EF4-FFF2-40B4-BE49-F238E27FC236}">
                <a16:creationId xmlns:a16="http://schemas.microsoft.com/office/drawing/2014/main" id="{39564796-629A-D5A5-1E5C-BAFFF2B282C3}"/>
              </a:ext>
            </a:extLst>
          </p:cNvPr>
          <p:cNvSpPr txBox="1"/>
          <p:nvPr/>
        </p:nvSpPr>
        <p:spPr>
          <a:xfrm>
            <a:off x="551388" y="967687"/>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The Cost of Error</a:t>
            </a:r>
          </a:p>
        </p:txBody>
      </p:sp>
      <p:sp>
        <p:nvSpPr>
          <p:cNvPr id="10" name="TextBox 9">
            <a:extLst>
              <a:ext uri="{FF2B5EF4-FFF2-40B4-BE49-F238E27FC236}">
                <a16:creationId xmlns:a16="http://schemas.microsoft.com/office/drawing/2014/main" id="{51B6D4CE-BAFF-2D74-D466-1F212863EC26}"/>
              </a:ext>
            </a:extLst>
          </p:cNvPr>
          <p:cNvSpPr txBox="1"/>
          <p:nvPr/>
        </p:nvSpPr>
        <p:spPr>
          <a:xfrm>
            <a:off x="1640826" y="5928801"/>
            <a:ext cx="8910347" cy="321242"/>
          </a:xfrm>
          <a:prstGeom prst="rect">
            <a:avLst/>
          </a:prstGeom>
          <a:noFill/>
        </p:spPr>
        <p:txBody>
          <a:bodyPr wrap="square">
            <a:spAutoFit/>
          </a:bodyPr>
          <a:lstStyle/>
          <a:p>
            <a:pPr marR="0" lvl="0" algn="ctr" defTabSz="914400" rtl="0" eaLnBrk="0" fontAlgn="base" latinLnBrk="0" hangingPunct="0">
              <a:lnSpc>
                <a:spcPct val="150000"/>
              </a:lnSpc>
              <a:spcBef>
                <a:spcPct val="0"/>
              </a:spcBef>
              <a:spcAft>
                <a:spcPct val="0"/>
              </a:spcAft>
              <a:buClrTx/>
              <a:buSzTx/>
              <a:tabLst/>
            </a:pPr>
            <a:r>
              <a:rPr kumimoji="0" lang="en-US" altLang="en-US" sz="1100" b="0" i="0" u="none" strike="noStrike" cap="none" normalizeH="0" baseline="0" dirty="0">
                <a:ln>
                  <a:noFill/>
                </a:ln>
                <a:solidFill>
                  <a:schemeClr val="tx1"/>
                </a:solidFill>
                <a:effectLst/>
                <a:latin typeface="JetBrainsMono NF" panose="02000009000000000000" pitchFamily="50" charset="0"/>
                <a:ea typeface="JetBrainsMono NF" panose="02000009000000000000" pitchFamily="50" charset="0"/>
                <a:cs typeface="JetBrainsMono NF" panose="02000009000000000000" pitchFamily="50" charset="0"/>
              </a:rPr>
              <a:t>This proves AI cannot be autonomous; it must be a decision-support tool for human officers.</a:t>
            </a:r>
          </a:p>
        </p:txBody>
      </p:sp>
      <p:sp>
        <p:nvSpPr>
          <p:cNvPr id="2" name="Oval 1">
            <a:extLst>
              <a:ext uri="{FF2B5EF4-FFF2-40B4-BE49-F238E27FC236}">
                <a16:creationId xmlns:a16="http://schemas.microsoft.com/office/drawing/2014/main" id="{77A5874A-0B8D-CE81-5FE6-0FA1C498C1A0}"/>
              </a:ext>
            </a:extLst>
          </p:cNvPr>
          <p:cNvSpPr/>
          <p:nvPr/>
        </p:nvSpPr>
        <p:spPr>
          <a:xfrm>
            <a:off x="11235559" y="136634"/>
            <a:ext cx="819807" cy="819807"/>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LO2</a:t>
            </a:r>
          </a:p>
        </p:txBody>
      </p:sp>
    </p:spTree>
    <p:extLst>
      <p:ext uri="{BB962C8B-B14F-4D97-AF65-F5344CB8AC3E}">
        <p14:creationId xmlns:p14="http://schemas.microsoft.com/office/powerpoint/2010/main" val="3067765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95915-6A59-8C2B-E4E2-F2133CD12E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88FB669-0D9F-A195-D976-34E705A8B7B2}"/>
              </a:ext>
            </a:extLst>
          </p:cNvPr>
          <p:cNvPicPr>
            <a:picLocks noChangeAspect="1"/>
          </p:cNvPicPr>
          <p:nvPr/>
        </p:nvPicPr>
        <p:blipFill>
          <a:blip r:embed="rId3"/>
          <a:stretch>
            <a:fillRect/>
          </a:stretch>
        </p:blipFill>
        <p:spPr>
          <a:xfrm>
            <a:off x="7045552" y="2058062"/>
            <a:ext cx="4571400" cy="3691096"/>
          </a:xfrm>
          <a:prstGeom prst="rect">
            <a:avLst/>
          </a:prstGeom>
        </p:spPr>
      </p:pic>
      <p:sp>
        <p:nvSpPr>
          <p:cNvPr id="9" name="TextBox 8">
            <a:extLst>
              <a:ext uri="{FF2B5EF4-FFF2-40B4-BE49-F238E27FC236}">
                <a16:creationId xmlns:a16="http://schemas.microsoft.com/office/drawing/2014/main" id="{F6B72506-B1FD-4F5E-C2EA-654F3413555E}"/>
              </a:ext>
            </a:extLst>
          </p:cNvPr>
          <p:cNvSpPr txBox="1"/>
          <p:nvPr/>
        </p:nvSpPr>
        <p:spPr>
          <a:xfrm>
            <a:off x="504496" y="593689"/>
            <a:ext cx="7535918" cy="400110"/>
          </a:xfrm>
          <a:prstGeom prst="rect">
            <a:avLst/>
          </a:prstGeom>
          <a:noFill/>
        </p:spPr>
        <p:txBody>
          <a:bodyPr wrap="square">
            <a:spAutoFit/>
          </a:bodyPr>
          <a:lstStyle/>
          <a:p>
            <a:r>
              <a:rPr lang="en-US" sz="2000" dirty="0">
                <a:latin typeface="VCR OSD Mono" panose="02000609000000000000" pitchFamily="49" charset="0"/>
              </a:rPr>
              <a:t>RECEIVER OPERATING CHARACTERISTIC (ROC) ANALYSIS</a:t>
            </a:r>
          </a:p>
        </p:txBody>
      </p:sp>
      <p:sp>
        <p:nvSpPr>
          <p:cNvPr id="11" name="Rectangle 1">
            <a:extLst>
              <a:ext uri="{FF2B5EF4-FFF2-40B4-BE49-F238E27FC236}">
                <a16:creationId xmlns:a16="http://schemas.microsoft.com/office/drawing/2014/main" id="{B46D65DA-A375-9D68-0EC8-FA625F92898A}"/>
              </a:ext>
            </a:extLst>
          </p:cNvPr>
          <p:cNvSpPr>
            <a:spLocks noChangeArrowheads="1"/>
          </p:cNvSpPr>
          <p:nvPr/>
        </p:nvSpPr>
        <p:spPr bwMode="auto">
          <a:xfrm>
            <a:off x="575048" y="1437284"/>
            <a:ext cx="5857283" cy="4827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Understanding the Curve:</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171450" marR="0" lvl="0" indent="-1714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Plots the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True Positive Rate</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(Catching Criminals) against the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False Positive Rate</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(Accusing Innocents).</a:t>
            </a:r>
          </a:p>
          <a:p>
            <a:pPr marL="171450" marR="0" lvl="0" indent="-1714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The "Orange Line" hugs the top-left corner, indicating the model catches most criminals with very few false alarms.</a:t>
            </a:r>
          </a:p>
          <a:p>
            <a:pPr marL="171450" marR="0" lvl="0" indent="-1714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AUC Score Analysis (0.98):</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171450" marR="0" lvl="0" indent="-1714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Result:</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The Area Under the Curve (AUC) is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0.98</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(out of 1.0).</a:t>
            </a:r>
          </a:p>
          <a:p>
            <a:pPr marL="171450" marR="0" lvl="0" indent="-1714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Interpretation:</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The model has a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98% probability</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of correctly distinguishing between a recidivist and a non-recidivist.</a:t>
            </a:r>
          </a:p>
          <a:p>
            <a:pPr marL="171450" marR="0" lvl="0" indent="-1714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Comparison:</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A score of 0.50 is random guessing. Our score of 0.98 validates the high quality of the synthetic "Biometric" and "Network" features.</a:t>
            </a:r>
          </a:p>
          <a:p>
            <a:pPr marL="0" marR="0" lvl="0" indent="0" algn="just" defTabSz="914400" rtl="0" eaLnBrk="0" fontAlgn="base" latinLnBrk="0" hangingPunct="0">
              <a:lnSpc>
                <a:spcPct val="2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p:txBody>
      </p:sp>
      <p:sp>
        <p:nvSpPr>
          <p:cNvPr id="2" name="Oval 1">
            <a:extLst>
              <a:ext uri="{FF2B5EF4-FFF2-40B4-BE49-F238E27FC236}">
                <a16:creationId xmlns:a16="http://schemas.microsoft.com/office/drawing/2014/main" id="{3E5C3DFC-252E-FF0C-C63E-33F355FA6196}"/>
              </a:ext>
            </a:extLst>
          </p:cNvPr>
          <p:cNvSpPr/>
          <p:nvPr/>
        </p:nvSpPr>
        <p:spPr>
          <a:xfrm>
            <a:off x="11235559" y="136634"/>
            <a:ext cx="819807" cy="819807"/>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LO2</a:t>
            </a:r>
          </a:p>
        </p:txBody>
      </p:sp>
    </p:spTree>
    <p:extLst>
      <p:ext uri="{BB962C8B-B14F-4D97-AF65-F5344CB8AC3E}">
        <p14:creationId xmlns:p14="http://schemas.microsoft.com/office/powerpoint/2010/main" val="4227886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F29FB-3DDF-B5D3-6ED7-BE8DDB46F46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33CB77A-D4EF-2C76-B7FA-A7A142AE54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7860" y="1511959"/>
            <a:ext cx="5770534" cy="3834081"/>
          </a:xfrm>
          <a:prstGeom prst="rect">
            <a:avLst/>
          </a:prstGeom>
        </p:spPr>
      </p:pic>
      <p:sp>
        <p:nvSpPr>
          <p:cNvPr id="4" name="Rectangle 1">
            <a:extLst>
              <a:ext uri="{FF2B5EF4-FFF2-40B4-BE49-F238E27FC236}">
                <a16:creationId xmlns:a16="http://schemas.microsoft.com/office/drawing/2014/main" id="{B2901D3A-E6F5-2480-473C-8A83703898B1}"/>
              </a:ext>
            </a:extLst>
          </p:cNvPr>
          <p:cNvSpPr>
            <a:spLocks noChangeArrowheads="1"/>
          </p:cNvSpPr>
          <p:nvPr/>
        </p:nvSpPr>
        <p:spPr bwMode="auto">
          <a:xfrm>
            <a:off x="520261" y="1704297"/>
            <a:ext cx="5747599" cy="3926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Dominant Predictor: CCTV Gait Score (77.1%):</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The model relies most heavily on the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behavioral biometric data</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Secondary Predictor: Network Size (13.9%):</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"Guilt by Association" is a strong mathematical signal. Being linked to a criminal network significantly increases recidivism risk.</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The Failure of Traditional Demographics:</a:t>
            </a: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Age (0.7%)</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Gender (0.0%)</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and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Marital Status (0.0%)</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have almost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zero impact</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Ethical Win:</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This suggests the model is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fairer</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It judges suspects based on their </a:t>
            </a: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current actions</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(Gait) and </a:t>
            </a:r>
            <a:r>
              <a:rPr kumimoji="0" lang="en-US" altLang="en-US" sz="1200" b="0" i="1"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connections</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(Network), not their inherent identity (Gender/Race).</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p:txBody>
      </p:sp>
      <p:sp>
        <p:nvSpPr>
          <p:cNvPr id="6" name="TextBox 5">
            <a:extLst>
              <a:ext uri="{FF2B5EF4-FFF2-40B4-BE49-F238E27FC236}">
                <a16:creationId xmlns:a16="http://schemas.microsoft.com/office/drawing/2014/main" id="{1F01863F-F4F2-27C8-9419-44E5E19EB3C8}"/>
              </a:ext>
            </a:extLst>
          </p:cNvPr>
          <p:cNvSpPr txBox="1"/>
          <p:nvPr/>
        </p:nvSpPr>
        <p:spPr>
          <a:xfrm>
            <a:off x="931868" y="6142006"/>
            <a:ext cx="10328263" cy="276999"/>
          </a:xfrm>
          <a:prstGeom prst="rect">
            <a:avLst/>
          </a:prstGeom>
          <a:noFill/>
        </p:spPr>
        <p:txBody>
          <a:bodyPr wrap="square">
            <a:spAutoFit/>
          </a:bodyPr>
          <a:lstStyle/>
          <a:p>
            <a:pPr algn="ctr"/>
            <a:r>
              <a:rPr lang="en-US" sz="1200" dirty="0">
                <a:latin typeface="JetBrainsMono NF" panose="02000009000000000000" pitchFamily="50" charset="0"/>
                <a:ea typeface="JetBrainsMono NF" panose="02000009000000000000" pitchFamily="50" charset="0"/>
                <a:cs typeface="JetBrainsMono NF" panose="02000009000000000000" pitchFamily="50" charset="0"/>
              </a:rPr>
              <a:t>How a suspect </a:t>
            </a:r>
            <a:r>
              <a:rPr lang="en-US" sz="1200" i="1" dirty="0">
                <a:latin typeface="JetBrainsMono NF" panose="02000009000000000000" pitchFamily="50" charset="0"/>
                <a:ea typeface="JetBrainsMono NF" panose="02000009000000000000" pitchFamily="50" charset="0"/>
                <a:cs typeface="JetBrainsMono NF" panose="02000009000000000000" pitchFamily="50" charset="0"/>
              </a:rPr>
              <a:t>moves</a:t>
            </a:r>
            <a:r>
              <a:rPr lang="en-US" sz="1200" dirty="0">
                <a:latin typeface="JetBrainsMono NF" panose="02000009000000000000" pitchFamily="50" charset="0"/>
                <a:ea typeface="JetBrainsMono NF" panose="02000009000000000000" pitchFamily="50" charset="0"/>
                <a:cs typeface="JetBrainsMono NF" panose="02000009000000000000" pitchFamily="50" charset="0"/>
              </a:rPr>
              <a:t> and behaves is a far better predictor of criminal intent than who they </a:t>
            </a:r>
            <a:r>
              <a:rPr lang="en-US" sz="1200" i="1" dirty="0">
                <a:latin typeface="JetBrainsMono NF" panose="02000009000000000000" pitchFamily="50" charset="0"/>
                <a:ea typeface="JetBrainsMono NF" panose="02000009000000000000" pitchFamily="50" charset="0"/>
                <a:cs typeface="JetBrainsMono NF" panose="02000009000000000000" pitchFamily="50" charset="0"/>
              </a:rPr>
              <a:t>are</a:t>
            </a:r>
            <a:endParaRPr lang="en-US" sz="1200" dirty="0">
              <a:latin typeface="JetBrainsMono NF" panose="02000009000000000000" pitchFamily="50" charset="0"/>
              <a:ea typeface="JetBrainsMono NF" panose="02000009000000000000" pitchFamily="50" charset="0"/>
              <a:cs typeface="JetBrainsMono NF" panose="02000009000000000000" pitchFamily="50" charset="0"/>
            </a:endParaRPr>
          </a:p>
        </p:txBody>
      </p:sp>
      <p:sp>
        <p:nvSpPr>
          <p:cNvPr id="8" name="TextBox 7">
            <a:extLst>
              <a:ext uri="{FF2B5EF4-FFF2-40B4-BE49-F238E27FC236}">
                <a16:creationId xmlns:a16="http://schemas.microsoft.com/office/drawing/2014/main" id="{4249FCA3-BF93-CB19-28B8-2FD9987F910F}"/>
              </a:ext>
            </a:extLst>
          </p:cNvPr>
          <p:cNvSpPr txBox="1"/>
          <p:nvPr/>
        </p:nvSpPr>
        <p:spPr>
          <a:xfrm>
            <a:off x="520261" y="574274"/>
            <a:ext cx="6096000" cy="400110"/>
          </a:xfrm>
          <a:prstGeom prst="rect">
            <a:avLst/>
          </a:prstGeom>
          <a:noFill/>
        </p:spPr>
        <p:txBody>
          <a:bodyPr wrap="square">
            <a:spAutoFit/>
          </a:bodyPr>
          <a:lstStyle/>
          <a:p>
            <a:r>
              <a:rPr lang="en-US" sz="2000" dirty="0">
                <a:latin typeface="VCR OSD Mono" panose="02000609000000000000" pitchFamily="49" charset="0"/>
              </a:rPr>
              <a:t>FEATURE IMPORTANCE</a:t>
            </a:r>
          </a:p>
        </p:txBody>
      </p:sp>
      <p:sp>
        <p:nvSpPr>
          <p:cNvPr id="10" name="TextBox 9">
            <a:extLst>
              <a:ext uri="{FF2B5EF4-FFF2-40B4-BE49-F238E27FC236}">
                <a16:creationId xmlns:a16="http://schemas.microsoft.com/office/drawing/2014/main" id="{62ED70D7-5EBC-EA2C-4AEF-2AD56FBD469B}"/>
              </a:ext>
            </a:extLst>
          </p:cNvPr>
          <p:cNvSpPr txBox="1"/>
          <p:nvPr/>
        </p:nvSpPr>
        <p:spPr>
          <a:xfrm>
            <a:off x="520261" y="947149"/>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Decoding the "Black Box"</a:t>
            </a:r>
          </a:p>
        </p:txBody>
      </p:sp>
      <p:sp>
        <p:nvSpPr>
          <p:cNvPr id="2" name="Oval 1">
            <a:extLst>
              <a:ext uri="{FF2B5EF4-FFF2-40B4-BE49-F238E27FC236}">
                <a16:creationId xmlns:a16="http://schemas.microsoft.com/office/drawing/2014/main" id="{4FCAC15A-A55D-4702-33DE-0552E44460FB}"/>
              </a:ext>
            </a:extLst>
          </p:cNvPr>
          <p:cNvSpPr/>
          <p:nvPr/>
        </p:nvSpPr>
        <p:spPr>
          <a:xfrm>
            <a:off x="11235559" y="136634"/>
            <a:ext cx="819807" cy="819807"/>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LO2</a:t>
            </a:r>
          </a:p>
        </p:txBody>
      </p:sp>
    </p:spTree>
    <p:extLst>
      <p:ext uri="{BB962C8B-B14F-4D97-AF65-F5344CB8AC3E}">
        <p14:creationId xmlns:p14="http://schemas.microsoft.com/office/powerpoint/2010/main" val="234102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E3FE9-C563-9764-0A6C-B3EE1D4A34C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EDC9941-A61D-43D7-72E2-3FCFE92EDD68}"/>
              </a:ext>
            </a:extLst>
          </p:cNvPr>
          <p:cNvSpPr txBox="1"/>
          <p:nvPr/>
        </p:nvSpPr>
        <p:spPr>
          <a:xfrm>
            <a:off x="515007" y="566823"/>
            <a:ext cx="6096000" cy="400110"/>
          </a:xfrm>
          <a:prstGeom prst="rect">
            <a:avLst/>
          </a:prstGeom>
          <a:noFill/>
        </p:spPr>
        <p:txBody>
          <a:bodyPr wrap="square">
            <a:spAutoFit/>
          </a:bodyPr>
          <a:lstStyle/>
          <a:p>
            <a:r>
              <a:rPr lang="en-US" sz="2000" dirty="0">
                <a:latin typeface="VCR OSD Mono" panose="02000609000000000000" pitchFamily="49" charset="0"/>
              </a:rPr>
              <a:t>CRITICAL EVALUATION</a:t>
            </a:r>
          </a:p>
        </p:txBody>
      </p:sp>
      <p:sp>
        <p:nvSpPr>
          <p:cNvPr id="5" name="TextBox 4">
            <a:extLst>
              <a:ext uri="{FF2B5EF4-FFF2-40B4-BE49-F238E27FC236}">
                <a16:creationId xmlns:a16="http://schemas.microsoft.com/office/drawing/2014/main" id="{A3F94A58-A5C8-F816-11C6-556FC876D53C}"/>
              </a:ext>
            </a:extLst>
          </p:cNvPr>
          <p:cNvSpPr txBox="1"/>
          <p:nvPr/>
        </p:nvSpPr>
        <p:spPr>
          <a:xfrm>
            <a:off x="515007" y="936155"/>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Strengths, Weaknesses &amp; Ethics</a:t>
            </a:r>
          </a:p>
        </p:txBody>
      </p:sp>
      <p:sp>
        <p:nvSpPr>
          <p:cNvPr id="6" name="Rectangle 1">
            <a:extLst>
              <a:ext uri="{FF2B5EF4-FFF2-40B4-BE49-F238E27FC236}">
                <a16:creationId xmlns:a16="http://schemas.microsoft.com/office/drawing/2014/main" id="{8C6E54F5-60C6-C3F6-0074-B734B6652028}"/>
              </a:ext>
            </a:extLst>
          </p:cNvPr>
          <p:cNvSpPr>
            <a:spLocks noChangeArrowheads="1"/>
          </p:cNvSpPr>
          <p:nvPr/>
        </p:nvSpPr>
        <p:spPr bwMode="auto">
          <a:xfrm>
            <a:off x="567559" y="1551708"/>
            <a:ext cx="2995448" cy="3095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Model Strengths:</a:t>
            </a: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171450" marR="0" lvl="0"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Multi-Modal Integration:</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Successfully fused disparate data streams (Biometrics + Network Graphs) to achieve </a:t>
            </a: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94% accuracy</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a:t>
            </a:r>
          </a:p>
          <a:p>
            <a:pPr marL="171450" marR="0" lvl="0"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171450" marR="0" lvl="0" indent="-1714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High Predictive Power:</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Validated that behavioral metrics (Gait) are superior to static demographics (Age/Gender).</a:t>
            </a:r>
          </a:p>
        </p:txBody>
      </p:sp>
      <p:sp>
        <p:nvSpPr>
          <p:cNvPr id="8" name="TextBox 7">
            <a:extLst>
              <a:ext uri="{FF2B5EF4-FFF2-40B4-BE49-F238E27FC236}">
                <a16:creationId xmlns:a16="http://schemas.microsoft.com/office/drawing/2014/main" id="{7DD48CEC-2BE1-875E-7499-CCAD5DDE7AC4}"/>
              </a:ext>
            </a:extLst>
          </p:cNvPr>
          <p:cNvSpPr txBox="1"/>
          <p:nvPr/>
        </p:nvSpPr>
        <p:spPr>
          <a:xfrm>
            <a:off x="4204138" y="1551708"/>
            <a:ext cx="3678620" cy="3372783"/>
          </a:xfrm>
          <a:prstGeom prst="rect">
            <a:avLst/>
          </a:prstGeom>
          <a:noFill/>
        </p:spPr>
        <p:txBody>
          <a:bodyPr wrap="square">
            <a:spAutoFit/>
          </a:bodyPr>
          <a:lstStyle/>
          <a:p>
            <a:pPr algn="just">
              <a:lnSpc>
                <a:spcPct val="150000"/>
              </a:lnSpc>
              <a:buNone/>
            </a:pPr>
            <a:r>
              <a:rPr lang="en-US" sz="1200" b="1" dirty="0">
                <a:latin typeface="Alliance No.2 Light" panose="00000400000000000000" pitchFamily="50" charset="0"/>
                <a:ea typeface="JetBrainsMono NF" panose="02000009000000000000" pitchFamily="50" charset="0"/>
                <a:cs typeface="JetBrainsMono NF" panose="02000009000000000000" pitchFamily="50" charset="0"/>
              </a:rPr>
              <a:t>Technical Weaknesses (Limitations):</a:t>
            </a:r>
          </a:p>
          <a:p>
            <a:pPr algn="just">
              <a:lnSpc>
                <a:spcPct val="150000"/>
              </a:lnSpc>
              <a:buNone/>
            </a:pPr>
            <a:endParaRPr lang="en-US" sz="1200" dirty="0">
              <a:latin typeface="Alliance No.2 Light" panose="00000400000000000000" pitchFamily="50" charset="0"/>
              <a:ea typeface="JetBrainsMono NF" panose="02000009000000000000" pitchFamily="50" charset="0"/>
              <a:cs typeface="JetBrainsMono NF" panose="02000009000000000000" pitchFamily="50" charset="0"/>
            </a:endParaRPr>
          </a:p>
          <a:p>
            <a:pPr marL="171450" indent="-171450" algn="just">
              <a:lnSpc>
                <a:spcPct val="150000"/>
              </a:lnSpc>
              <a:buFont typeface="Arial" panose="020B0604020202020204" pitchFamily="34" charset="0"/>
              <a:buChar char="•"/>
            </a:pPr>
            <a:r>
              <a:rPr lang="en-US" sz="1200" b="1" dirty="0">
                <a:latin typeface="Alliance No.2 Light" panose="00000400000000000000" pitchFamily="50" charset="0"/>
                <a:ea typeface="JetBrainsMono NF" panose="02000009000000000000" pitchFamily="50" charset="0"/>
                <a:cs typeface="JetBrainsMono NF" panose="02000009000000000000" pitchFamily="50" charset="0"/>
              </a:rPr>
              <a:t>Synthetic Data Artifacts:</a:t>
            </a:r>
            <a:r>
              <a:rPr lang="en-US" sz="1200" dirty="0">
                <a:latin typeface="Alliance No.2 Light" panose="00000400000000000000" pitchFamily="50" charset="0"/>
                <a:ea typeface="JetBrainsMono NF" panose="02000009000000000000" pitchFamily="50" charset="0"/>
                <a:cs typeface="JetBrainsMono NF" panose="02000009000000000000" pitchFamily="50" charset="0"/>
              </a:rPr>
              <a:t> Our data was "too clean." Real-world police data contains noise (missing files, corrupt entries) that might lower accuracy in production.</a:t>
            </a:r>
          </a:p>
          <a:p>
            <a:pPr marL="171450" indent="-171450" algn="just">
              <a:lnSpc>
                <a:spcPct val="150000"/>
              </a:lnSpc>
              <a:buFont typeface="Arial" panose="020B0604020202020204" pitchFamily="34" charset="0"/>
              <a:buChar char="•"/>
            </a:pPr>
            <a:endParaRPr lang="en-US" sz="1200" dirty="0">
              <a:latin typeface="Alliance No.2 Light" panose="00000400000000000000" pitchFamily="50" charset="0"/>
              <a:ea typeface="JetBrainsMono NF" panose="02000009000000000000" pitchFamily="50" charset="0"/>
              <a:cs typeface="JetBrainsMono NF" panose="02000009000000000000" pitchFamily="50" charset="0"/>
            </a:endParaRPr>
          </a:p>
          <a:p>
            <a:pPr marL="171450" indent="-171450" algn="just">
              <a:lnSpc>
                <a:spcPct val="150000"/>
              </a:lnSpc>
              <a:buFont typeface="Arial" panose="020B0604020202020204" pitchFamily="34" charset="0"/>
              <a:buChar char="•"/>
            </a:pPr>
            <a:r>
              <a:rPr lang="en-US" sz="1200" b="1" dirty="0">
                <a:latin typeface="Alliance No.2 Light" panose="00000400000000000000" pitchFamily="50" charset="0"/>
                <a:ea typeface="JetBrainsMono NF" panose="02000009000000000000" pitchFamily="50" charset="0"/>
                <a:cs typeface="JetBrainsMono NF" panose="02000009000000000000" pitchFamily="50" charset="0"/>
              </a:rPr>
              <a:t>The "Low Recall" Risk:</a:t>
            </a:r>
            <a:r>
              <a:rPr lang="en-US" sz="1200" dirty="0">
                <a:latin typeface="Alliance No.2 Light" panose="00000400000000000000" pitchFamily="50" charset="0"/>
                <a:ea typeface="JetBrainsMono NF" panose="02000009000000000000" pitchFamily="50" charset="0"/>
                <a:cs typeface="JetBrainsMono NF" panose="02000009000000000000" pitchFamily="50" charset="0"/>
              </a:rPr>
              <a:t> Without optimization techniques like </a:t>
            </a:r>
            <a:r>
              <a:rPr lang="en-US" sz="1200" b="1" dirty="0">
                <a:latin typeface="Alliance No.2 Light" panose="00000400000000000000" pitchFamily="50" charset="0"/>
                <a:ea typeface="JetBrainsMono NF" panose="02000009000000000000" pitchFamily="50" charset="0"/>
                <a:cs typeface="JetBrainsMono NF" panose="02000009000000000000" pitchFamily="50" charset="0"/>
              </a:rPr>
              <a:t>SMOTE</a:t>
            </a:r>
            <a:r>
              <a:rPr lang="en-US" sz="1200" dirty="0">
                <a:latin typeface="Alliance No.2 Light" panose="00000400000000000000" pitchFamily="50" charset="0"/>
                <a:ea typeface="JetBrainsMono NF" panose="02000009000000000000" pitchFamily="50" charset="0"/>
                <a:cs typeface="JetBrainsMono NF" panose="02000009000000000000" pitchFamily="50" charset="0"/>
              </a:rPr>
              <a:t> (Synthetic Minority Over-sampling Technique), the model risks missing rare habitual offenders in a highly imbalanced population.</a:t>
            </a:r>
          </a:p>
        </p:txBody>
      </p:sp>
      <p:sp>
        <p:nvSpPr>
          <p:cNvPr id="10" name="TextBox 9">
            <a:extLst>
              <a:ext uri="{FF2B5EF4-FFF2-40B4-BE49-F238E27FC236}">
                <a16:creationId xmlns:a16="http://schemas.microsoft.com/office/drawing/2014/main" id="{3D22848D-0464-E1B1-C86B-34B00D15A1A0}"/>
              </a:ext>
            </a:extLst>
          </p:cNvPr>
          <p:cNvSpPr txBox="1"/>
          <p:nvPr/>
        </p:nvSpPr>
        <p:spPr>
          <a:xfrm>
            <a:off x="8576441" y="1551708"/>
            <a:ext cx="2932387" cy="3372783"/>
          </a:xfrm>
          <a:prstGeom prst="rect">
            <a:avLst/>
          </a:prstGeom>
          <a:noFill/>
        </p:spPr>
        <p:txBody>
          <a:bodyPr wrap="square">
            <a:spAutoFit/>
          </a:bodyPr>
          <a:lstStyle/>
          <a:p>
            <a:pPr algn="just">
              <a:lnSpc>
                <a:spcPct val="150000"/>
              </a:lnSpc>
              <a:buNone/>
            </a:pPr>
            <a:r>
              <a:rPr lang="en-US" sz="1200" b="1" dirty="0">
                <a:latin typeface="Alliance No.2 Light" panose="00000400000000000000" pitchFamily="50" charset="0"/>
                <a:ea typeface="JetBrainsMono NF" panose="02000009000000000000" pitchFamily="50" charset="0"/>
                <a:cs typeface="JetBrainsMono NF" panose="02000009000000000000" pitchFamily="50" charset="0"/>
              </a:rPr>
              <a:t>Ethical Bias Check:</a:t>
            </a:r>
          </a:p>
          <a:p>
            <a:pPr algn="just">
              <a:lnSpc>
                <a:spcPct val="150000"/>
              </a:lnSpc>
              <a:buNone/>
            </a:pPr>
            <a:endParaRPr lang="en-US" sz="1200" dirty="0">
              <a:latin typeface="Alliance No.2 Light" panose="00000400000000000000" pitchFamily="50" charset="0"/>
              <a:ea typeface="JetBrainsMono NF" panose="02000009000000000000" pitchFamily="50" charset="0"/>
              <a:cs typeface="JetBrainsMono NF" panose="02000009000000000000" pitchFamily="50" charset="0"/>
            </a:endParaRPr>
          </a:p>
          <a:p>
            <a:pPr marL="171450" indent="-171450" algn="just">
              <a:lnSpc>
                <a:spcPct val="150000"/>
              </a:lnSpc>
              <a:buFont typeface="Arial" panose="020B0604020202020204" pitchFamily="34" charset="0"/>
              <a:buChar char="•"/>
            </a:pPr>
            <a:r>
              <a:rPr lang="en-US" sz="1200" b="1" dirty="0">
                <a:latin typeface="Alliance No.2 Light" panose="00000400000000000000" pitchFamily="50" charset="0"/>
                <a:ea typeface="JetBrainsMono NF" panose="02000009000000000000" pitchFamily="50" charset="0"/>
                <a:cs typeface="JetBrainsMono NF" panose="02000009000000000000" pitchFamily="50" charset="0"/>
              </a:rPr>
              <a:t>The Problem:</a:t>
            </a:r>
            <a:r>
              <a:rPr lang="en-US" sz="1200" dirty="0">
                <a:latin typeface="Alliance No.2 Light" panose="00000400000000000000" pitchFamily="50" charset="0"/>
                <a:ea typeface="JetBrainsMono NF" panose="02000009000000000000" pitchFamily="50" charset="0"/>
                <a:cs typeface="JetBrainsMono NF" panose="02000009000000000000" pitchFamily="50" charset="0"/>
              </a:rPr>
              <a:t> Using "Family Network" as a predictor penalizes individuals for the crimes of their relatives.</a:t>
            </a:r>
          </a:p>
          <a:p>
            <a:pPr marL="171450" indent="-171450" algn="just">
              <a:lnSpc>
                <a:spcPct val="150000"/>
              </a:lnSpc>
              <a:buFont typeface="Arial" panose="020B0604020202020204" pitchFamily="34" charset="0"/>
              <a:buChar char="•"/>
            </a:pPr>
            <a:endParaRPr lang="en-US" sz="1200" dirty="0">
              <a:latin typeface="Alliance No.2 Light" panose="00000400000000000000" pitchFamily="50" charset="0"/>
              <a:ea typeface="JetBrainsMono NF" panose="02000009000000000000" pitchFamily="50" charset="0"/>
              <a:cs typeface="JetBrainsMono NF" panose="02000009000000000000" pitchFamily="50" charset="0"/>
            </a:endParaRPr>
          </a:p>
          <a:p>
            <a:pPr marL="171450" indent="-171450" algn="just">
              <a:lnSpc>
                <a:spcPct val="150000"/>
              </a:lnSpc>
              <a:buFont typeface="Arial" panose="020B0604020202020204" pitchFamily="34" charset="0"/>
              <a:buChar char="•"/>
            </a:pPr>
            <a:r>
              <a:rPr lang="en-US" sz="1200" b="1" dirty="0">
                <a:latin typeface="Alliance No.2 Light" panose="00000400000000000000" pitchFamily="50" charset="0"/>
                <a:ea typeface="JetBrainsMono NF" panose="02000009000000000000" pitchFamily="50" charset="0"/>
                <a:cs typeface="JetBrainsMono NF" panose="02000009000000000000" pitchFamily="50" charset="0"/>
              </a:rPr>
              <a:t>The Risk:</a:t>
            </a:r>
            <a:r>
              <a:rPr lang="en-US" sz="1200" dirty="0">
                <a:latin typeface="Alliance No.2 Light" panose="00000400000000000000" pitchFamily="50" charset="0"/>
                <a:ea typeface="JetBrainsMono NF" panose="02000009000000000000" pitchFamily="50" charset="0"/>
                <a:cs typeface="JetBrainsMono NF" panose="02000009000000000000" pitchFamily="50" charset="0"/>
              </a:rPr>
              <a:t> This creates a feedback loop where entire families are stigmatized, violating the principle of </a:t>
            </a:r>
            <a:r>
              <a:rPr lang="en-US" sz="1200" b="1" dirty="0">
                <a:latin typeface="Alliance No.2 Light" panose="00000400000000000000" pitchFamily="50" charset="0"/>
                <a:ea typeface="JetBrainsMono NF" panose="02000009000000000000" pitchFamily="50" charset="0"/>
                <a:cs typeface="JetBrainsMono NF" panose="02000009000000000000" pitchFamily="50" charset="0"/>
              </a:rPr>
              <a:t>"Individual Agency"</a:t>
            </a:r>
            <a:r>
              <a:rPr lang="en-US" sz="1200" dirty="0">
                <a:latin typeface="Alliance No.2 Light" panose="00000400000000000000" pitchFamily="50" charset="0"/>
                <a:ea typeface="JetBrainsMono NF" panose="02000009000000000000" pitchFamily="50" charset="0"/>
                <a:cs typeface="JetBrainsMono NF" panose="02000009000000000000" pitchFamily="50" charset="0"/>
              </a:rPr>
              <a:t> (judging a person solely on their own actions).</a:t>
            </a:r>
          </a:p>
        </p:txBody>
      </p:sp>
      <p:sp>
        <p:nvSpPr>
          <p:cNvPr id="12" name="TextBox 11">
            <a:extLst>
              <a:ext uri="{FF2B5EF4-FFF2-40B4-BE49-F238E27FC236}">
                <a16:creationId xmlns:a16="http://schemas.microsoft.com/office/drawing/2014/main" id="{2E21DEAB-8803-A325-5DA6-936BCEADEDAC}"/>
              </a:ext>
            </a:extLst>
          </p:cNvPr>
          <p:cNvSpPr txBox="1"/>
          <p:nvPr/>
        </p:nvSpPr>
        <p:spPr>
          <a:xfrm>
            <a:off x="8019394" y="6611779"/>
            <a:ext cx="4172606" cy="246221"/>
          </a:xfrm>
          <a:prstGeom prst="rect">
            <a:avLst/>
          </a:prstGeom>
          <a:noFill/>
        </p:spPr>
        <p:txBody>
          <a:bodyPr wrap="square">
            <a:spAutoFit/>
          </a:bodyPr>
          <a:lstStyle/>
          <a:p>
            <a:r>
              <a:rPr lang="en-US" sz="1000" i="1" dirty="0"/>
              <a:t>(Chen &amp; Hou, 2025; Frontiers in Genetics, 2025; Ethical Audit Section 5.1)</a:t>
            </a:r>
          </a:p>
        </p:txBody>
      </p:sp>
      <p:sp>
        <p:nvSpPr>
          <p:cNvPr id="2" name="Oval 1">
            <a:extLst>
              <a:ext uri="{FF2B5EF4-FFF2-40B4-BE49-F238E27FC236}">
                <a16:creationId xmlns:a16="http://schemas.microsoft.com/office/drawing/2014/main" id="{58D800F4-27F7-5F6F-47D9-4C89E7D65AE7}"/>
              </a:ext>
            </a:extLst>
          </p:cNvPr>
          <p:cNvSpPr/>
          <p:nvPr/>
        </p:nvSpPr>
        <p:spPr>
          <a:xfrm>
            <a:off x="11235559" y="136634"/>
            <a:ext cx="819807" cy="819807"/>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LO2</a:t>
            </a:r>
          </a:p>
        </p:txBody>
      </p:sp>
    </p:spTree>
    <p:extLst>
      <p:ext uri="{BB962C8B-B14F-4D97-AF65-F5344CB8AC3E}">
        <p14:creationId xmlns:p14="http://schemas.microsoft.com/office/powerpoint/2010/main" val="3705130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B8775-0F5E-B173-F62B-E0BC309033E1}"/>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80112E91-C38B-DC75-7090-3279383A8BD9}"/>
              </a:ext>
            </a:extLst>
          </p:cNvPr>
          <p:cNvSpPr/>
          <p:nvPr/>
        </p:nvSpPr>
        <p:spPr>
          <a:xfrm>
            <a:off x="11235559" y="136634"/>
            <a:ext cx="819807" cy="819807"/>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LO3</a:t>
            </a:r>
          </a:p>
        </p:txBody>
      </p:sp>
      <p:sp>
        <p:nvSpPr>
          <p:cNvPr id="3" name="Rectangle 1">
            <a:extLst>
              <a:ext uri="{FF2B5EF4-FFF2-40B4-BE49-F238E27FC236}">
                <a16:creationId xmlns:a16="http://schemas.microsoft.com/office/drawing/2014/main" id="{6AAAB79A-FFB9-AC10-747E-F540E6194C20}"/>
              </a:ext>
            </a:extLst>
          </p:cNvPr>
          <p:cNvSpPr>
            <a:spLocks noChangeArrowheads="1"/>
          </p:cNvSpPr>
          <p:nvPr/>
        </p:nvSpPr>
        <p:spPr bwMode="auto">
          <a:xfrm>
            <a:off x="630998" y="1991166"/>
            <a:ext cx="5359899" cy="334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The OIC View:</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Translates complex </a:t>
            </a:r>
            <a:r>
              <a:rPr kumimoji="0" lang="en-US" altLang="en-US" sz="1200" b="0" i="0" u="none" strike="noStrike" cap="none" normalizeH="0" baseline="0" dirty="0" err="1">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XGBoost</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math into a simple, actionable interface for the Officer-in-Charge.</a:t>
            </a:r>
          </a:p>
          <a:p>
            <a:pPr marL="0" marR="0" lvl="0" indent="0" algn="just" defTabSz="914400" rtl="0" eaLnBrk="0" fontAlgn="base" latinLnBrk="0" hangingPunct="0">
              <a:lnSpc>
                <a:spcPct val="2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Instant Decision Support:</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Replaces manual file-reading with a clear "High/Medium/Low" risk categorization.</a:t>
            </a:r>
          </a:p>
          <a:p>
            <a:pPr marL="0" marR="0" lvl="0" indent="0" algn="just" defTabSz="914400" rtl="0" eaLnBrk="0" fontAlgn="base" latinLnBrk="0" hangingPunct="0">
              <a:lnSpc>
                <a:spcPct val="2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The "Golden Hour" Value:</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Provides crucial intelligence within the first hour of arrest, allowing police to immediately decide whether to grant police bail or prepare a remand report for the magistrate.</a:t>
            </a:r>
          </a:p>
        </p:txBody>
      </p:sp>
      <p:sp>
        <p:nvSpPr>
          <p:cNvPr id="5" name="TextBox 4">
            <a:extLst>
              <a:ext uri="{FF2B5EF4-FFF2-40B4-BE49-F238E27FC236}">
                <a16:creationId xmlns:a16="http://schemas.microsoft.com/office/drawing/2014/main" id="{4448B7DB-43FA-7D5E-1C21-12F734D7BA6C}"/>
              </a:ext>
            </a:extLst>
          </p:cNvPr>
          <p:cNvSpPr txBox="1"/>
          <p:nvPr/>
        </p:nvSpPr>
        <p:spPr>
          <a:xfrm>
            <a:off x="515007" y="587109"/>
            <a:ext cx="6096000" cy="400110"/>
          </a:xfrm>
          <a:prstGeom prst="rect">
            <a:avLst/>
          </a:prstGeom>
          <a:noFill/>
        </p:spPr>
        <p:txBody>
          <a:bodyPr wrap="square">
            <a:spAutoFit/>
          </a:bodyPr>
          <a:lstStyle/>
          <a:p>
            <a:r>
              <a:rPr lang="en-US" sz="2000" dirty="0">
                <a:latin typeface="VCR OSD Mono" panose="02000609000000000000" pitchFamily="49" charset="0"/>
              </a:rPr>
              <a:t>DECISION SUPPORT</a:t>
            </a:r>
          </a:p>
        </p:txBody>
      </p:sp>
      <p:sp>
        <p:nvSpPr>
          <p:cNvPr id="7" name="TextBox 6">
            <a:extLst>
              <a:ext uri="{FF2B5EF4-FFF2-40B4-BE49-F238E27FC236}">
                <a16:creationId xmlns:a16="http://schemas.microsoft.com/office/drawing/2014/main" id="{53FB5856-D200-3D6C-BC06-07E5E2C84ABE}"/>
              </a:ext>
            </a:extLst>
          </p:cNvPr>
          <p:cNvSpPr txBox="1"/>
          <p:nvPr/>
        </p:nvSpPr>
        <p:spPr>
          <a:xfrm>
            <a:off x="515007" y="956441"/>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The OIC Tactical Dashboard</a:t>
            </a:r>
          </a:p>
        </p:txBody>
      </p:sp>
      <p:sp>
        <p:nvSpPr>
          <p:cNvPr id="11" name="TextBox 10">
            <a:extLst>
              <a:ext uri="{FF2B5EF4-FFF2-40B4-BE49-F238E27FC236}">
                <a16:creationId xmlns:a16="http://schemas.microsoft.com/office/drawing/2014/main" id="{4DCCB3B1-5C43-7C46-A035-51B22BEE2720}"/>
              </a:ext>
            </a:extLst>
          </p:cNvPr>
          <p:cNvSpPr txBox="1"/>
          <p:nvPr/>
        </p:nvSpPr>
        <p:spPr>
          <a:xfrm>
            <a:off x="8502868" y="6611779"/>
            <a:ext cx="3689132" cy="246221"/>
          </a:xfrm>
          <a:prstGeom prst="rect">
            <a:avLst/>
          </a:prstGeom>
          <a:noFill/>
        </p:spPr>
        <p:txBody>
          <a:bodyPr wrap="square">
            <a:spAutoFit/>
          </a:bodyPr>
          <a:lstStyle/>
          <a:p>
            <a:r>
              <a:rPr lang="en-US" sz="1000" i="1" dirty="0"/>
              <a:t>(</a:t>
            </a:r>
            <a:r>
              <a:rPr lang="en-US" sz="1000" i="1" dirty="0" err="1"/>
              <a:t>Huamantingo</a:t>
            </a:r>
            <a:r>
              <a:rPr lang="en-US" sz="1000" i="1" dirty="0"/>
              <a:t> et al., 2025; Haidar, 2025; Sri Lanka Police, 2024)</a:t>
            </a:r>
          </a:p>
        </p:txBody>
      </p:sp>
      <p:pic>
        <p:nvPicPr>
          <p:cNvPr id="13" name="Picture 12">
            <a:extLst>
              <a:ext uri="{FF2B5EF4-FFF2-40B4-BE49-F238E27FC236}">
                <a16:creationId xmlns:a16="http://schemas.microsoft.com/office/drawing/2014/main" id="{5A7DA87A-3A27-C0FA-5C78-F88504EE8A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2975" y="1895845"/>
            <a:ext cx="5094965" cy="3776530"/>
          </a:xfrm>
          <a:prstGeom prst="rect">
            <a:avLst/>
          </a:prstGeom>
        </p:spPr>
      </p:pic>
    </p:spTree>
    <p:extLst>
      <p:ext uri="{BB962C8B-B14F-4D97-AF65-F5344CB8AC3E}">
        <p14:creationId xmlns:p14="http://schemas.microsoft.com/office/powerpoint/2010/main" val="3967142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E42F8-4CA5-CBAA-8F32-8A55E071010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1DEF6B7-B9FD-EF13-1D92-AD0893C0B0AF}"/>
              </a:ext>
            </a:extLst>
          </p:cNvPr>
          <p:cNvSpPr txBox="1"/>
          <p:nvPr/>
        </p:nvSpPr>
        <p:spPr>
          <a:xfrm>
            <a:off x="515007" y="587109"/>
            <a:ext cx="6096000" cy="400110"/>
          </a:xfrm>
          <a:prstGeom prst="rect">
            <a:avLst/>
          </a:prstGeom>
          <a:noFill/>
        </p:spPr>
        <p:txBody>
          <a:bodyPr wrap="square">
            <a:spAutoFit/>
          </a:bodyPr>
          <a:lstStyle/>
          <a:p>
            <a:r>
              <a:rPr lang="en-US" sz="2000" dirty="0">
                <a:latin typeface="VCR OSD Mono" panose="02000609000000000000" pitchFamily="49" charset="0"/>
              </a:rPr>
              <a:t>DECISION SUPPORT</a:t>
            </a:r>
          </a:p>
        </p:txBody>
      </p:sp>
      <p:sp>
        <p:nvSpPr>
          <p:cNvPr id="3" name="TextBox 2">
            <a:extLst>
              <a:ext uri="{FF2B5EF4-FFF2-40B4-BE49-F238E27FC236}">
                <a16:creationId xmlns:a16="http://schemas.microsoft.com/office/drawing/2014/main" id="{71408CC8-5932-1402-649A-A0A29D987A05}"/>
              </a:ext>
            </a:extLst>
          </p:cNvPr>
          <p:cNvSpPr txBox="1"/>
          <p:nvPr/>
        </p:nvSpPr>
        <p:spPr>
          <a:xfrm>
            <a:off x="515007" y="956441"/>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Strategic Geospatial Analytics (IGP View)</a:t>
            </a:r>
          </a:p>
        </p:txBody>
      </p:sp>
      <p:sp>
        <p:nvSpPr>
          <p:cNvPr id="4" name="Rectangle 1">
            <a:extLst>
              <a:ext uri="{FF2B5EF4-FFF2-40B4-BE49-F238E27FC236}">
                <a16:creationId xmlns:a16="http://schemas.microsoft.com/office/drawing/2014/main" id="{6EE1A623-3E7B-1741-281A-1FAB35B1E3F7}"/>
              </a:ext>
            </a:extLst>
          </p:cNvPr>
          <p:cNvSpPr>
            <a:spLocks noChangeArrowheads="1"/>
          </p:cNvSpPr>
          <p:nvPr/>
        </p:nvSpPr>
        <p:spPr bwMode="auto">
          <a:xfrm>
            <a:off x="683174" y="1805052"/>
            <a:ext cx="5412826" cy="4088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The Strategic View (Macro Level):</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Shifting focus from individual suspects to national trends and patterns.</a:t>
            </a:r>
          </a:p>
          <a:p>
            <a:pPr marL="0" marR="0" lvl="0" indent="0" algn="just" defTabSz="914400" rtl="0" eaLnBrk="0" fontAlgn="base" latinLnBrk="0" hangingPunct="0">
              <a:lnSpc>
                <a:spcPct val="2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Geospatial Crime Mapping:</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Aggregating predicted recidivism scores by region to identify "High Recidivism Zones" and underlying systemic issues.</a:t>
            </a:r>
          </a:p>
          <a:p>
            <a:pPr marL="0" marR="0" lvl="0" indent="0" algn="just" defTabSz="914400" rtl="0" eaLnBrk="0" fontAlgn="base" latinLnBrk="0" hangingPunct="0">
              <a:lnSpc>
                <a:spcPct val="2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Data-Driven Deployment:</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Optimizing the allocation of the limited active force (approx. 60,000 officers) to the areas that need them most.</a:t>
            </a:r>
          </a:p>
          <a:p>
            <a:pPr marL="0" marR="0" lvl="0" indent="0" algn="just" defTabSz="914400" rtl="0" eaLnBrk="0" fontAlgn="base" latinLnBrk="0" hangingPunct="0">
              <a:lnSpc>
                <a:spcPct val="2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endParaRPr>
          </a:p>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Proactive Policing:</a:t>
            </a:r>
            <a:r>
              <a:rPr kumimoji="0" lang="en-US" altLang="en-US" sz="1200" b="0" i="0" u="none" strike="noStrike" cap="none" normalizeH="0" baseline="0" dirty="0">
                <a:ln>
                  <a:noFill/>
                </a:ln>
                <a:solidFill>
                  <a:schemeClr val="tx1"/>
                </a:solidFill>
                <a:effectLst/>
                <a:latin typeface="Alliance No.2 Light" panose="00000400000000000000" pitchFamily="50" charset="0"/>
                <a:ea typeface="JetBrainsMono NF" panose="02000009000000000000" pitchFamily="50" charset="0"/>
                <a:cs typeface="JetBrainsMono NF" panose="02000009000000000000" pitchFamily="50" charset="0"/>
              </a:rPr>
              <a:t> Transitioning from reactive response to predictive crime prevention models.</a:t>
            </a:r>
          </a:p>
        </p:txBody>
      </p:sp>
      <p:sp>
        <p:nvSpPr>
          <p:cNvPr id="6" name="TextBox 5">
            <a:extLst>
              <a:ext uri="{FF2B5EF4-FFF2-40B4-BE49-F238E27FC236}">
                <a16:creationId xmlns:a16="http://schemas.microsoft.com/office/drawing/2014/main" id="{922D2561-FC45-A010-141F-7DEF7B39F973}"/>
              </a:ext>
            </a:extLst>
          </p:cNvPr>
          <p:cNvSpPr txBox="1"/>
          <p:nvPr/>
        </p:nvSpPr>
        <p:spPr>
          <a:xfrm>
            <a:off x="8250621" y="6611779"/>
            <a:ext cx="3941379" cy="246221"/>
          </a:xfrm>
          <a:prstGeom prst="rect">
            <a:avLst/>
          </a:prstGeom>
          <a:noFill/>
        </p:spPr>
        <p:txBody>
          <a:bodyPr wrap="square">
            <a:spAutoFit/>
          </a:bodyPr>
          <a:lstStyle/>
          <a:p>
            <a:r>
              <a:rPr lang="da-DK" sz="1000" i="1" dirty="0"/>
              <a:t>(Sridharan et al., 2024; Sri Lanka Police, 2024; Kovalchuk et al., 2024)</a:t>
            </a:r>
            <a:endParaRPr lang="en-US" sz="1000" i="1" dirty="0"/>
          </a:p>
        </p:txBody>
      </p:sp>
      <p:pic>
        <p:nvPicPr>
          <p:cNvPr id="8" name="Picture 7">
            <a:extLst>
              <a:ext uri="{FF2B5EF4-FFF2-40B4-BE49-F238E27FC236}">
                <a16:creationId xmlns:a16="http://schemas.microsoft.com/office/drawing/2014/main" id="{95C1DAFA-4EC9-6700-E19A-C74AC4029B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2510" y="1892022"/>
            <a:ext cx="5254483" cy="3894769"/>
          </a:xfrm>
          <a:prstGeom prst="rect">
            <a:avLst/>
          </a:prstGeom>
        </p:spPr>
      </p:pic>
      <p:sp>
        <p:nvSpPr>
          <p:cNvPr id="5" name="Oval 4">
            <a:extLst>
              <a:ext uri="{FF2B5EF4-FFF2-40B4-BE49-F238E27FC236}">
                <a16:creationId xmlns:a16="http://schemas.microsoft.com/office/drawing/2014/main" id="{0F78D5B4-DC5F-4899-5B0D-A386CFD17471}"/>
              </a:ext>
            </a:extLst>
          </p:cNvPr>
          <p:cNvSpPr/>
          <p:nvPr/>
        </p:nvSpPr>
        <p:spPr>
          <a:xfrm>
            <a:off x="11235559" y="136634"/>
            <a:ext cx="819807" cy="819807"/>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LO3</a:t>
            </a:r>
          </a:p>
        </p:txBody>
      </p:sp>
    </p:spTree>
    <p:extLst>
      <p:ext uri="{BB962C8B-B14F-4D97-AF65-F5344CB8AC3E}">
        <p14:creationId xmlns:p14="http://schemas.microsoft.com/office/powerpoint/2010/main" val="2433468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F3F85-CD6B-80BB-619B-02650A48CAD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1D2118-0677-98CC-638D-580C6D273FCD}"/>
              </a:ext>
            </a:extLst>
          </p:cNvPr>
          <p:cNvSpPr txBox="1"/>
          <p:nvPr/>
        </p:nvSpPr>
        <p:spPr>
          <a:xfrm>
            <a:off x="536028" y="598354"/>
            <a:ext cx="6096000" cy="400110"/>
          </a:xfrm>
          <a:prstGeom prst="rect">
            <a:avLst/>
          </a:prstGeom>
          <a:noFill/>
        </p:spPr>
        <p:txBody>
          <a:bodyPr wrap="square">
            <a:spAutoFit/>
          </a:bodyPr>
          <a:lstStyle/>
          <a:p>
            <a:r>
              <a:rPr lang="en-US" sz="2000" dirty="0">
                <a:latin typeface="VCR OSD Mono" panose="02000609000000000000" pitchFamily="49" charset="0"/>
              </a:rPr>
              <a:t>ACTIONABLE INTERVENTIONS</a:t>
            </a:r>
          </a:p>
        </p:txBody>
      </p:sp>
      <p:sp>
        <p:nvSpPr>
          <p:cNvPr id="5" name="TextBox 4">
            <a:extLst>
              <a:ext uri="{FF2B5EF4-FFF2-40B4-BE49-F238E27FC236}">
                <a16:creationId xmlns:a16="http://schemas.microsoft.com/office/drawing/2014/main" id="{01A90A5C-649A-CD26-AF79-87EF93FB9B04}"/>
              </a:ext>
            </a:extLst>
          </p:cNvPr>
          <p:cNvSpPr txBox="1"/>
          <p:nvPr/>
        </p:nvSpPr>
        <p:spPr>
          <a:xfrm>
            <a:off x="536028" y="967686"/>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Putting AI into Practice</a:t>
            </a:r>
          </a:p>
        </p:txBody>
      </p:sp>
      <p:sp>
        <p:nvSpPr>
          <p:cNvPr id="6" name="Rectangle 1">
            <a:extLst>
              <a:ext uri="{FF2B5EF4-FFF2-40B4-BE49-F238E27FC236}">
                <a16:creationId xmlns:a16="http://schemas.microsoft.com/office/drawing/2014/main" id="{E14B295C-F84C-F744-3462-801A7795EFDA}"/>
              </a:ext>
            </a:extLst>
          </p:cNvPr>
          <p:cNvSpPr>
            <a:spLocks noChangeArrowheads="1"/>
          </p:cNvSpPr>
          <p:nvPr/>
        </p:nvSpPr>
        <p:spPr bwMode="auto">
          <a:xfrm>
            <a:off x="672663" y="1696767"/>
            <a:ext cx="7010399" cy="4457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rPr>
              <a:t>Targeted Rehabilitation (Juvenile Justice):</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Alliance No.2 Light" panose="00000400000000000000" pitchFamily="50" charset="0"/>
              </a:rPr>
              <a:t>Identifying "Low-Risk" offenders (especially youth) early in the process.</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Alliance No.2 Light" panose="00000400000000000000" pitchFamily="50" charset="0"/>
              </a:rPr>
              <a:t>Diverting them away from the prison system and into specialized rehabilitation programs to break the cycle of crime.</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Alliance No.2 Light" panose="00000400000000000000" pitchFamily="50" charset="0"/>
            </a:endParaRPr>
          </a:p>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rPr>
              <a:t>Predictive Patrols (Resource Optimization):</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Alliance No.2 Light" panose="00000400000000000000" pitchFamily="50" charset="0"/>
              </a:rPr>
              <a:t>Deploying patrol units to AI-predicted geospatial hotspots </a:t>
            </a:r>
            <a:r>
              <a:rPr kumimoji="0" lang="en-US" altLang="en-US" sz="1200" i="1" u="none" strike="noStrike" cap="none" normalizeH="0" baseline="0" dirty="0">
                <a:ln>
                  <a:noFill/>
                </a:ln>
                <a:solidFill>
                  <a:schemeClr val="tx1"/>
                </a:solidFill>
                <a:effectLst/>
                <a:latin typeface="Alliance No.2 Light" panose="00000400000000000000" pitchFamily="50" charset="0"/>
              </a:rPr>
              <a:t>before</a:t>
            </a:r>
            <a:r>
              <a:rPr kumimoji="0" lang="en-US" altLang="en-US" sz="1200" i="0" u="none" strike="noStrike" cap="none" normalizeH="0" baseline="0" dirty="0">
                <a:ln>
                  <a:noFill/>
                </a:ln>
                <a:solidFill>
                  <a:schemeClr val="tx1"/>
                </a:solidFill>
                <a:effectLst/>
                <a:latin typeface="Alliance No.2 Light" panose="00000400000000000000" pitchFamily="50" charset="0"/>
              </a:rPr>
              <a:t> crimes occur.</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Alliance No.2 Light" panose="00000400000000000000" pitchFamily="50" charset="0"/>
              </a:rPr>
              <a:t>Shifting law enforcement strategy from a reactive model to a proactive, preventative model.</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dirty="0">
              <a:ln>
                <a:noFill/>
              </a:ln>
              <a:solidFill>
                <a:schemeClr val="tx1"/>
              </a:solidFill>
              <a:effectLst/>
              <a:latin typeface="Alliance No.2 Light" panose="00000400000000000000" pitchFamily="50" charset="0"/>
            </a:endParaRPr>
          </a:p>
          <a:p>
            <a:pPr marL="0" marR="0" lvl="0" indent="0" algn="just" defTabSz="914400" rtl="0" eaLnBrk="0" fontAlgn="base" latinLnBrk="0" hangingPunct="0">
              <a:lnSpc>
                <a:spcPct val="2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rPr>
              <a:t>Systemic Impact:</a:t>
            </a:r>
          </a:p>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Alliance No.2 Light" panose="00000400000000000000" pitchFamily="50" charset="0"/>
              </a:rPr>
              <a:t>Reduces the financial burden of mass incarceration while actively decreasing the crime rate.</a:t>
            </a:r>
          </a:p>
          <a:p>
            <a:pPr marL="0" marR="0" lvl="0" indent="0" algn="just" defTabSz="914400" rtl="0" eaLnBrk="0" fontAlgn="base" latinLnBrk="0" hangingPunct="0">
              <a:lnSpc>
                <a:spcPct val="200000"/>
              </a:lnSpc>
              <a:spcBef>
                <a:spcPct val="0"/>
              </a:spcBef>
              <a:spcAft>
                <a:spcPct val="0"/>
              </a:spcAft>
              <a:buClrTx/>
              <a:buSzTx/>
              <a:buFontTx/>
              <a:buNone/>
              <a:tabLst/>
            </a:pPr>
            <a:endParaRPr kumimoji="0" lang="en-US" altLang="en-US" sz="1200" i="0" u="none" strike="noStrike" cap="none" normalizeH="0" baseline="0" dirty="0">
              <a:ln>
                <a:noFill/>
              </a:ln>
              <a:solidFill>
                <a:schemeClr val="tx1"/>
              </a:solidFill>
              <a:effectLst/>
              <a:latin typeface="Alliance No.2 Light" panose="00000400000000000000" pitchFamily="50" charset="0"/>
            </a:endParaRPr>
          </a:p>
        </p:txBody>
      </p:sp>
      <p:pic>
        <p:nvPicPr>
          <p:cNvPr id="8" name="Picture 7">
            <a:extLst>
              <a:ext uri="{FF2B5EF4-FFF2-40B4-BE49-F238E27FC236}">
                <a16:creationId xmlns:a16="http://schemas.microsoft.com/office/drawing/2014/main" id="{988EC4AC-AAAA-F92C-7883-91C42EBA17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1515" y="1757153"/>
            <a:ext cx="3557822" cy="3343694"/>
          </a:xfrm>
          <a:prstGeom prst="rect">
            <a:avLst/>
          </a:prstGeom>
        </p:spPr>
      </p:pic>
      <p:sp>
        <p:nvSpPr>
          <p:cNvPr id="2" name="Oval 1">
            <a:extLst>
              <a:ext uri="{FF2B5EF4-FFF2-40B4-BE49-F238E27FC236}">
                <a16:creationId xmlns:a16="http://schemas.microsoft.com/office/drawing/2014/main" id="{574929DB-7046-AADA-50DC-41F58CF12568}"/>
              </a:ext>
            </a:extLst>
          </p:cNvPr>
          <p:cNvSpPr/>
          <p:nvPr/>
        </p:nvSpPr>
        <p:spPr>
          <a:xfrm>
            <a:off x="11235559" y="136634"/>
            <a:ext cx="819807" cy="819807"/>
          </a:xfrm>
          <a:prstGeom prst="ellipse">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lliance No.2 Light" panose="00000400000000000000" pitchFamily="50" charset="0"/>
              </a:rPr>
              <a:t>LO3</a:t>
            </a:r>
          </a:p>
        </p:txBody>
      </p:sp>
    </p:spTree>
    <p:extLst>
      <p:ext uri="{BB962C8B-B14F-4D97-AF65-F5344CB8AC3E}">
        <p14:creationId xmlns:p14="http://schemas.microsoft.com/office/powerpoint/2010/main" val="37746379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DF734-8639-8CA4-E3A5-FB189261EA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CAA6E0-F528-4EED-27D0-792F039E13DD}"/>
              </a:ext>
            </a:extLst>
          </p:cNvPr>
          <p:cNvSpPr txBox="1"/>
          <p:nvPr/>
        </p:nvSpPr>
        <p:spPr>
          <a:xfrm>
            <a:off x="536028" y="577333"/>
            <a:ext cx="6096000" cy="400110"/>
          </a:xfrm>
          <a:prstGeom prst="rect">
            <a:avLst/>
          </a:prstGeom>
          <a:noFill/>
        </p:spPr>
        <p:txBody>
          <a:bodyPr wrap="square">
            <a:spAutoFit/>
          </a:bodyPr>
          <a:lstStyle/>
          <a:p>
            <a:r>
              <a:rPr lang="en-US" sz="2000" dirty="0">
                <a:latin typeface="VCR OSD Mono" panose="02000609000000000000" pitchFamily="49" charset="0"/>
              </a:rPr>
              <a:t>CONCLUSION &amp; STRATEGIC ROADMAP</a:t>
            </a:r>
          </a:p>
        </p:txBody>
      </p:sp>
      <p:sp>
        <p:nvSpPr>
          <p:cNvPr id="5" name="TextBox 4">
            <a:extLst>
              <a:ext uri="{FF2B5EF4-FFF2-40B4-BE49-F238E27FC236}">
                <a16:creationId xmlns:a16="http://schemas.microsoft.com/office/drawing/2014/main" id="{D75DE997-B7CC-4E58-CFCE-50D1EC6CADBD}"/>
              </a:ext>
            </a:extLst>
          </p:cNvPr>
          <p:cNvSpPr txBox="1"/>
          <p:nvPr/>
        </p:nvSpPr>
        <p:spPr>
          <a:xfrm>
            <a:off x="536028" y="946665"/>
            <a:ext cx="6096000" cy="246221"/>
          </a:xfrm>
          <a:prstGeom prst="rect">
            <a:avLst/>
          </a:prstGeom>
          <a:noFill/>
        </p:spPr>
        <p:txBody>
          <a:bodyPr wrap="square">
            <a:spAutoFit/>
          </a:bodyPr>
          <a:lstStyle/>
          <a:p>
            <a:r>
              <a:rPr lang="en-US" sz="1000" i="1" dirty="0">
                <a:latin typeface="JetBrainsMono NF" panose="02000009000000000000" pitchFamily="50" charset="0"/>
                <a:ea typeface="JetBrainsMono NF" panose="02000009000000000000" pitchFamily="50" charset="0"/>
                <a:cs typeface="JetBrainsMono NF" panose="02000009000000000000" pitchFamily="50" charset="0"/>
              </a:rPr>
              <a:t>From Gut Feeling to Data-Driven Policing.</a:t>
            </a:r>
          </a:p>
        </p:txBody>
      </p:sp>
      <p:sp>
        <p:nvSpPr>
          <p:cNvPr id="7" name="TextBox 6">
            <a:extLst>
              <a:ext uri="{FF2B5EF4-FFF2-40B4-BE49-F238E27FC236}">
                <a16:creationId xmlns:a16="http://schemas.microsoft.com/office/drawing/2014/main" id="{ABAD6AC7-9C13-5411-C9B0-7C03B5B62B5E}"/>
              </a:ext>
            </a:extLst>
          </p:cNvPr>
          <p:cNvSpPr txBox="1"/>
          <p:nvPr/>
        </p:nvSpPr>
        <p:spPr>
          <a:xfrm>
            <a:off x="861849" y="1562218"/>
            <a:ext cx="4834760" cy="2611036"/>
          </a:xfrm>
          <a:prstGeom prst="rect">
            <a:avLst/>
          </a:prstGeom>
          <a:noFill/>
        </p:spPr>
        <p:txBody>
          <a:bodyPr wrap="square">
            <a:spAutoFit/>
          </a:bodyPr>
          <a:lstStyle/>
          <a:p>
            <a:pPr algn="just">
              <a:lnSpc>
                <a:spcPct val="200000"/>
              </a:lnSpc>
              <a:buNone/>
            </a:pPr>
            <a:r>
              <a:rPr lang="en-US" sz="1200" b="1" dirty="0">
                <a:latin typeface="Alliance No.2 Light" panose="00000400000000000000" pitchFamily="50" charset="0"/>
                <a:ea typeface="JetBrainsMono NF" panose="02000009000000000000" pitchFamily="50" charset="0"/>
                <a:cs typeface="JetBrainsMono NF" panose="02000009000000000000" pitchFamily="50" charset="0"/>
              </a:rPr>
              <a:t>Summary of Impact:</a:t>
            </a:r>
          </a:p>
          <a:p>
            <a:pPr algn="just">
              <a:lnSpc>
                <a:spcPct val="200000"/>
              </a:lnSpc>
              <a:buNone/>
            </a:pPr>
            <a:endParaRPr lang="en-US" sz="1200" dirty="0">
              <a:latin typeface="Alliance No.2 Light" panose="00000400000000000000" pitchFamily="50" charset="0"/>
              <a:ea typeface="JetBrainsMono NF" panose="02000009000000000000" pitchFamily="50" charset="0"/>
              <a:cs typeface="JetBrainsMono NF" panose="02000009000000000000" pitchFamily="50" charset="0"/>
            </a:endParaRPr>
          </a:p>
          <a:p>
            <a:pPr marL="285750" indent="-285750" algn="just">
              <a:lnSpc>
                <a:spcPct val="200000"/>
              </a:lnSpc>
              <a:buFont typeface="Arial" panose="020B0604020202020204" pitchFamily="34" charset="0"/>
              <a:buChar char="•"/>
            </a:pPr>
            <a:r>
              <a:rPr lang="en-US" sz="1200" dirty="0">
                <a:latin typeface="Alliance No.2 Light" panose="00000400000000000000" pitchFamily="50" charset="0"/>
                <a:ea typeface="JetBrainsMono NF" panose="02000009000000000000" pitchFamily="50" charset="0"/>
                <a:cs typeface="JetBrainsMono NF" panose="02000009000000000000" pitchFamily="50" charset="0"/>
              </a:rPr>
              <a:t>Successfully demonstrated an </a:t>
            </a:r>
            <a:r>
              <a:rPr lang="en-US" sz="1200" dirty="0" err="1">
                <a:latin typeface="Alliance No.2 Light" panose="00000400000000000000" pitchFamily="50" charset="0"/>
                <a:ea typeface="JetBrainsMono NF" panose="02000009000000000000" pitchFamily="50" charset="0"/>
                <a:cs typeface="JetBrainsMono NF" panose="02000009000000000000" pitchFamily="50" charset="0"/>
              </a:rPr>
              <a:t>XGBoost</a:t>
            </a:r>
            <a:r>
              <a:rPr lang="en-US" sz="1200" dirty="0">
                <a:latin typeface="Alliance No.2 Light" panose="00000400000000000000" pitchFamily="50" charset="0"/>
                <a:ea typeface="JetBrainsMono NF" panose="02000009000000000000" pitchFamily="50" charset="0"/>
                <a:cs typeface="JetBrainsMono NF" panose="02000009000000000000" pitchFamily="50" charset="0"/>
              </a:rPr>
              <a:t> model (94% accuracy) to predict recidivism risk using multi-modal data.</a:t>
            </a:r>
          </a:p>
          <a:p>
            <a:pPr marL="285750" indent="-285750" algn="just">
              <a:lnSpc>
                <a:spcPct val="200000"/>
              </a:lnSpc>
              <a:buFont typeface="Arial" panose="020B0604020202020204" pitchFamily="34" charset="0"/>
              <a:buChar char="•"/>
            </a:pPr>
            <a:endParaRPr lang="en-US" sz="1200" dirty="0">
              <a:latin typeface="Alliance No.2 Light" panose="00000400000000000000" pitchFamily="50" charset="0"/>
              <a:ea typeface="JetBrainsMono NF" panose="02000009000000000000" pitchFamily="50" charset="0"/>
              <a:cs typeface="JetBrainsMono NF" panose="02000009000000000000" pitchFamily="50" charset="0"/>
            </a:endParaRPr>
          </a:p>
          <a:p>
            <a:pPr marL="285750" indent="-285750" algn="just">
              <a:lnSpc>
                <a:spcPct val="200000"/>
              </a:lnSpc>
              <a:buFont typeface="Arial" panose="020B0604020202020204" pitchFamily="34" charset="0"/>
              <a:buChar char="•"/>
            </a:pPr>
            <a:r>
              <a:rPr lang="en-US" sz="1200" dirty="0">
                <a:latin typeface="Alliance No.2 Light" panose="00000400000000000000" pitchFamily="50" charset="0"/>
                <a:ea typeface="JetBrainsMono NF" panose="02000009000000000000" pitchFamily="50" charset="0"/>
                <a:cs typeface="JetBrainsMono NF" panose="02000009000000000000" pitchFamily="50" charset="0"/>
              </a:rPr>
              <a:t>Shifted the law enforcement paradigm from subjective "Gut Feeling" to objective, "Data-Driven" decision-making.</a:t>
            </a:r>
          </a:p>
        </p:txBody>
      </p:sp>
      <p:sp>
        <p:nvSpPr>
          <p:cNvPr id="9" name="TextBox 8">
            <a:extLst>
              <a:ext uri="{FF2B5EF4-FFF2-40B4-BE49-F238E27FC236}">
                <a16:creationId xmlns:a16="http://schemas.microsoft.com/office/drawing/2014/main" id="{00944F78-F34A-1C7F-8EE4-4313DD4F885C}"/>
              </a:ext>
            </a:extLst>
          </p:cNvPr>
          <p:cNvSpPr txBox="1"/>
          <p:nvPr/>
        </p:nvSpPr>
        <p:spPr>
          <a:xfrm>
            <a:off x="6495392" y="1453640"/>
            <a:ext cx="4834760" cy="4827027"/>
          </a:xfrm>
          <a:prstGeom prst="rect">
            <a:avLst/>
          </a:prstGeom>
          <a:noFill/>
        </p:spPr>
        <p:txBody>
          <a:bodyPr wrap="square">
            <a:spAutoFit/>
          </a:bodyPr>
          <a:lstStyle/>
          <a:p>
            <a:pPr algn="just">
              <a:lnSpc>
                <a:spcPct val="200000"/>
              </a:lnSpc>
              <a:buNone/>
            </a:pPr>
            <a:r>
              <a:rPr lang="en-US" sz="1200" b="1" dirty="0">
                <a:latin typeface="Alliance No.2 Light" panose="00000400000000000000" pitchFamily="50" charset="0"/>
              </a:rPr>
              <a:t>Strategic Roadmap:</a:t>
            </a:r>
          </a:p>
          <a:p>
            <a:pPr algn="just">
              <a:lnSpc>
                <a:spcPct val="200000"/>
              </a:lnSpc>
              <a:buNone/>
            </a:pPr>
            <a:endParaRPr lang="en-US" sz="1200" dirty="0">
              <a:latin typeface="Alliance No.2 Light" panose="00000400000000000000" pitchFamily="50" charset="0"/>
            </a:endParaRPr>
          </a:p>
          <a:p>
            <a:pPr marL="285750" indent="-285750" algn="just">
              <a:lnSpc>
                <a:spcPct val="200000"/>
              </a:lnSpc>
              <a:buFont typeface="Arial" panose="020B0604020202020204" pitchFamily="34" charset="0"/>
              <a:buChar char="•"/>
            </a:pPr>
            <a:r>
              <a:rPr lang="en-US" sz="1200" b="1" dirty="0">
                <a:latin typeface="Alliance No.2 Light" panose="00000400000000000000" pitchFamily="50" charset="0"/>
              </a:rPr>
              <a:t>Phase 1: Western Province Pilot.</a:t>
            </a:r>
            <a:r>
              <a:rPr lang="en-US" sz="1200" dirty="0">
                <a:latin typeface="Alliance No.2 Light" panose="00000400000000000000" pitchFamily="50" charset="0"/>
              </a:rPr>
              <a:t> Initial deployment in high-density regions to test the OIC Dashboard in real-world scenarios.</a:t>
            </a:r>
          </a:p>
          <a:p>
            <a:pPr marL="285750" indent="-285750" algn="just">
              <a:lnSpc>
                <a:spcPct val="200000"/>
              </a:lnSpc>
              <a:buFont typeface="Arial" panose="020B0604020202020204" pitchFamily="34" charset="0"/>
              <a:buChar char="•"/>
            </a:pPr>
            <a:endParaRPr lang="en-US" sz="1200" dirty="0">
              <a:latin typeface="Alliance No.2 Light" panose="00000400000000000000" pitchFamily="50" charset="0"/>
            </a:endParaRPr>
          </a:p>
          <a:p>
            <a:pPr marL="285750" indent="-285750" algn="just">
              <a:lnSpc>
                <a:spcPct val="200000"/>
              </a:lnSpc>
              <a:buFont typeface="Arial" panose="020B0604020202020204" pitchFamily="34" charset="0"/>
              <a:buChar char="•"/>
            </a:pPr>
            <a:r>
              <a:rPr lang="en-US" sz="1200" b="1" dirty="0">
                <a:latin typeface="Alliance No.2 Light" panose="00000400000000000000" pitchFamily="50" charset="0"/>
              </a:rPr>
              <a:t>Phase 2: Real CCTV Integration.</a:t>
            </a:r>
            <a:r>
              <a:rPr lang="en-US" sz="1200" dirty="0">
                <a:latin typeface="Alliance No.2 Light" panose="00000400000000000000" pitchFamily="50" charset="0"/>
              </a:rPr>
              <a:t> Replace synthetic gait scores with live, automated computer vision feeds from station cameras.</a:t>
            </a:r>
          </a:p>
          <a:p>
            <a:pPr marL="285750" indent="-285750" algn="just">
              <a:lnSpc>
                <a:spcPct val="200000"/>
              </a:lnSpc>
              <a:buFont typeface="Arial" panose="020B0604020202020204" pitchFamily="34" charset="0"/>
              <a:buChar char="•"/>
            </a:pPr>
            <a:endParaRPr lang="en-US" sz="1200" dirty="0">
              <a:latin typeface="Alliance No.2 Light" panose="00000400000000000000" pitchFamily="50" charset="0"/>
            </a:endParaRPr>
          </a:p>
          <a:p>
            <a:pPr marL="285750" indent="-285750" algn="just">
              <a:lnSpc>
                <a:spcPct val="200000"/>
              </a:lnSpc>
              <a:buFont typeface="Arial" panose="020B0604020202020204" pitchFamily="34" charset="0"/>
              <a:buChar char="•"/>
            </a:pPr>
            <a:r>
              <a:rPr lang="en-US" sz="1200" b="1" dirty="0">
                <a:latin typeface="Alliance No.2 Light" panose="00000400000000000000" pitchFamily="50" charset="0"/>
              </a:rPr>
              <a:t>Phase 3: National Rollout.</a:t>
            </a:r>
            <a:r>
              <a:rPr lang="en-US" sz="1200" dirty="0">
                <a:latin typeface="Alliance No.2 Light" panose="00000400000000000000" pitchFamily="50" charset="0"/>
              </a:rPr>
              <a:t> Scale the system island-wide, deploying the Strategic Dashboard for IGP resource allocation.</a:t>
            </a:r>
          </a:p>
        </p:txBody>
      </p:sp>
    </p:spTree>
    <p:extLst>
      <p:ext uri="{BB962C8B-B14F-4D97-AF65-F5344CB8AC3E}">
        <p14:creationId xmlns:p14="http://schemas.microsoft.com/office/powerpoint/2010/main" val="2192193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3CA31-CE4E-F01D-A104-DBD775E153E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85DCCDB-EAE9-21B7-5461-D06B76E53292}"/>
              </a:ext>
            </a:extLst>
          </p:cNvPr>
          <p:cNvSpPr>
            <a:spLocks noChangeArrowheads="1"/>
          </p:cNvSpPr>
          <p:nvPr/>
        </p:nvSpPr>
        <p:spPr bwMode="auto">
          <a:xfrm>
            <a:off x="2448909" y="1881108"/>
            <a:ext cx="7294181" cy="3095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rPr>
              <a:t>Bhardwaj, V. et al. (2026).</a:t>
            </a:r>
            <a:r>
              <a:rPr kumimoji="0" lang="en-US" altLang="en-US" sz="1200" b="0" i="0" u="none" strike="noStrike" cap="none" normalizeH="0" baseline="0" dirty="0">
                <a:ln>
                  <a:noFill/>
                </a:ln>
                <a:solidFill>
                  <a:schemeClr val="tx1"/>
                </a:solidFill>
                <a:effectLst/>
                <a:latin typeface="Alliance No.2 Light" panose="00000400000000000000" pitchFamily="50" charset="0"/>
              </a:rPr>
              <a:t> </a:t>
            </a:r>
            <a:r>
              <a:rPr kumimoji="0" lang="en-US" altLang="en-US" sz="1200" b="0" i="1" u="none" strike="noStrike" cap="none" normalizeH="0" baseline="0" dirty="0">
                <a:ln>
                  <a:noFill/>
                </a:ln>
                <a:solidFill>
                  <a:schemeClr val="tx1"/>
                </a:solidFill>
                <a:effectLst/>
                <a:latin typeface="Alliance No.2 Light" panose="00000400000000000000" pitchFamily="50" charset="0"/>
              </a:rPr>
              <a:t>AI and Juvenile Justice: Can Machine Learning Predict and Prevent Youth Crimes?</a:t>
            </a:r>
            <a:r>
              <a:rPr kumimoji="0" lang="en-US" altLang="en-US" sz="1200" b="0" i="0" u="none" strike="noStrike" cap="none" normalizeH="0" baseline="0" dirty="0">
                <a:ln>
                  <a:noFill/>
                </a:ln>
                <a:solidFill>
                  <a:schemeClr val="tx1"/>
                </a:solidFill>
                <a:effectLst/>
                <a:latin typeface="Alliance No.2 Light" panose="00000400000000000000" pitchFamily="50" charset="0"/>
              </a:rPr>
              <a:t> IGI Global, pp. 1-26.</a:t>
            </a:r>
          </a:p>
          <a:p>
            <a:pPr marR="0" lvl="0" algn="just" defTabSz="914400" rtl="0" eaLnBrk="0" fontAlgn="base" latinLnBrk="0" hangingPunct="0">
              <a:lnSpc>
                <a:spcPct val="15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ndParaRPr>
          </a:p>
          <a:p>
            <a:pPr marR="0" lvl="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rPr>
              <a:t>Cavus, M. et al. (2025).</a:t>
            </a:r>
            <a:r>
              <a:rPr kumimoji="0" lang="en-US" altLang="en-US" sz="1200" b="0" i="0" u="none" strike="noStrike" cap="none" normalizeH="0" baseline="0" dirty="0">
                <a:ln>
                  <a:noFill/>
                </a:ln>
                <a:solidFill>
                  <a:schemeClr val="tx1"/>
                </a:solidFill>
                <a:effectLst/>
                <a:latin typeface="Alliance No.2 Light" panose="00000400000000000000" pitchFamily="50" charset="0"/>
              </a:rPr>
              <a:t> </a:t>
            </a:r>
            <a:r>
              <a:rPr kumimoji="0" lang="en-US" altLang="en-US" sz="1200" b="0" i="1" u="none" strike="noStrike" cap="none" normalizeH="0" baseline="0" dirty="0">
                <a:ln>
                  <a:noFill/>
                </a:ln>
                <a:solidFill>
                  <a:schemeClr val="tx1"/>
                </a:solidFill>
                <a:effectLst/>
                <a:latin typeface="Alliance No.2 Light" panose="00000400000000000000" pitchFamily="50" charset="0"/>
              </a:rPr>
              <a:t>Transparent and bias-resilient AI framework for recidivism prediction using deep learning and clustering techniques in criminal justice.</a:t>
            </a:r>
            <a:r>
              <a:rPr kumimoji="0" lang="en-US" altLang="en-US" sz="1200" b="0" i="0" u="none" strike="noStrike" cap="none" normalizeH="0" baseline="0" dirty="0">
                <a:ln>
                  <a:noFill/>
                </a:ln>
                <a:solidFill>
                  <a:schemeClr val="tx1"/>
                </a:solidFill>
                <a:effectLst/>
                <a:latin typeface="Alliance No.2 Light" panose="00000400000000000000" pitchFamily="50" charset="0"/>
              </a:rPr>
              <a:t> Applied Soft Computing, 113160.</a:t>
            </a:r>
          </a:p>
          <a:p>
            <a:pPr marR="0" lvl="0" algn="just" defTabSz="914400" rtl="0" eaLnBrk="0" fontAlgn="base" latinLnBrk="0" hangingPunct="0">
              <a:lnSpc>
                <a:spcPct val="15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ndParaRPr>
          </a:p>
          <a:p>
            <a:pPr marR="0" lvl="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rPr>
              <a:t>Chen, F. &amp; Hou, H. (2025).</a:t>
            </a:r>
            <a:r>
              <a:rPr kumimoji="0" lang="en-US" altLang="en-US" sz="1200" b="0" i="0" u="none" strike="noStrike" cap="none" normalizeH="0" baseline="0" dirty="0">
                <a:ln>
                  <a:noFill/>
                </a:ln>
                <a:solidFill>
                  <a:schemeClr val="tx1"/>
                </a:solidFill>
                <a:effectLst/>
                <a:latin typeface="Alliance No.2 Light" panose="00000400000000000000" pitchFamily="50" charset="0"/>
              </a:rPr>
              <a:t> </a:t>
            </a:r>
            <a:r>
              <a:rPr kumimoji="0" lang="en-US" altLang="en-US" sz="1200" b="0" i="1" u="none" strike="noStrike" cap="none" normalizeH="0" baseline="0" dirty="0">
                <a:ln>
                  <a:noFill/>
                </a:ln>
                <a:solidFill>
                  <a:schemeClr val="tx1"/>
                </a:solidFill>
                <a:effectLst/>
                <a:latin typeface="Alliance No.2 Light" panose="00000400000000000000" pitchFamily="50" charset="0"/>
              </a:rPr>
              <a:t>Recidivism Prediction: A Novel Machine Learning-based Imbalanced Learning Method.</a:t>
            </a:r>
            <a:r>
              <a:rPr kumimoji="0" lang="en-US" altLang="en-US" sz="1200" b="0" i="0" u="none" strike="noStrike" cap="none" normalizeH="0" baseline="0" dirty="0">
                <a:ln>
                  <a:noFill/>
                </a:ln>
                <a:solidFill>
                  <a:schemeClr val="tx1"/>
                </a:solidFill>
                <a:effectLst/>
                <a:latin typeface="Alliance No.2 Light" panose="00000400000000000000" pitchFamily="50" charset="0"/>
              </a:rPr>
              <a:t> Journal of Applied Science and Engineering, 29(4).</a:t>
            </a:r>
          </a:p>
          <a:p>
            <a:pPr marR="0" lvl="0" algn="just" defTabSz="914400" rtl="0" eaLnBrk="0" fontAlgn="base" latinLnBrk="0" hangingPunct="0">
              <a:lnSpc>
                <a:spcPct val="15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lliance No.2 Light" panose="00000400000000000000" pitchFamily="50" charset="0"/>
            </a:endParaRPr>
          </a:p>
          <a:p>
            <a:pPr marR="0" lvl="0" algn="just" defTabSz="914400" rtl="0" eaLnBrk="0" fontAlgn="base" latinLnBrk="0" hangingPunct="0">
              <a:lnSpc>
                <a:spcPct val="15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lliance No.2 Light" panose="00000400000000000000" pitchFamily="50" charset="0"/>
              </a:rPr>
              <a:t>Sri Lanka Police (2024).</a:t>
            </a:r>
            <a:r>
              <a:rPr kumimoji="0" lang="en-US" altLang="en-US" sz="1200" b="0" i="0" u="none" strike="noStrike" cap="none" normalizeH="0" baseline="0" dirty="0">
                <a:ln>
                  <a:noFill/>
                </a:ln>
                <a:solidFill>
                  <a:schemeClr val="tx1"/>
                </a:solidFill>
                <a:effectLst/>
                <a:latin typeface="Alliance No.2 Light" panose="00000400000000000000" pitchFamily="50" charset="0"/>
              </a:rPr>
              <a:t> </a:t>
            </a:r>
            <a:r>
              <a:rPr kumimoji="0" lang="en-US" altLang="en-US" sz="1200" b="0" i="1" u="none" strike="noStrike" cap="none" normalizeH="0" baseline="0" dirty="0">
                <a:ln>
                  <a:noFill/>
                </a:ln>
                <a:solidFill>
                  <a:schemeClr val="tx1"/>
                </a:solidFill>
                <a:effectLst/>
                <a:latin typeface="Alliance No.2 Light" panose="00000400000000000000" pitchFamily="50" charset="0"/>
              </a:rPr>
              <a:t>Annual Performance Report 2024.</a:t>
            </a:r>
            <a:r>
              <a:rPr kumimoji="0" lang="en-US" altLang="en-US" sz="1200" b="0" i="0" u="none" strike="noStrike" cap="none" normalizeH="0" baseline="0" dirty="0">
                <a:ln>
                  <a:noFill/>
                </a:ln>
                <a:solidFill>
                  <a:schemeClr val="tx1"/>
                </a:solidFill>
                <a:effectLst/>
                <a:latin typeface="Alliance No.2 Light" panose="00000400000000000000" pitchFamily="50" charset="0"/>
              </a:rPr>
              <a:t> Colombo: Sri Lanka Police, Expenditure Head No. 225.</a:t>
            </a:r>
          </a:p>
        </p:txBody>
      </p:sp>
      <p:sp>
        <p:nvSpPr>
          <p:cNvPr id="4" name="TextBox 3">
            <a:extLst>
              <a:ext uri="{FF2B5EF4-FFF2-40B4-BE49-F238E27FC236}">
                <a16:creationId xmlns:a16="http://schemas.microsoft.com/office/drawing/2014/main" id="{6A8C8AF1-8F1B-9980-604A-68FAC00E85B8}"/>
              </a:ext>
            </a:extLst>
          </p:cNvPr>
          <p:cNvSpPr txBox="1"/>
          <p:nvPr/>
        </p:nvSpPr>
        <p:spPr>
          <a:xfrm>
            <a:off x="504496" y="566823"/>
            <a:ext cx="6096000" cy="400110"/>
          </a:xfrm>
          <a:prstGeom prst="rect">
            <a:avLst/>
          </a:prstGeom>
          <a:noFill/>
        </p:spPr>
        <p:txBody>
          <a:bodyPr wrap="square">
            <a:spAutoFit/>
          </a:bodyPr>
          <a:lstStyle/>
          <a:p>
            <a:r>
              <a:rPr lang="en-US" sz="2000" dirty="0">
                <a:latin typeface="VCR OSD Mono" panose="02000609000000000000" pitchFamily="49" charset="0"/>
              </a:rPr>
              <a:t>REFERENCES</a:t>
            </a:r>
          </a:p>
        </p:txBody>
      </p:sp>
    </p:spTree>
    <p:extLst>
      <p:ext uri="{BB962C8B-B14F-4D97-AF65-F5344CB8AC3E}">
        <p14:creationId xmlns:p14="http://schemas.microsoft.com/office/powerpoint/2010/main" val="10012588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1089</TotalTime>
  <Words>6609</Words>
  <Application>Microsoft Office PowerPoint</Application>
  <PresentationFormat>Widescreen</PresentationFormat>
  <Paragraphs>428</Paragraphs>
  <Slides>25</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Alliance No.2 Light</vt:lpstr>
      <vt:lpstr>Aptos</vt:lpstr>
      <vt:lpstr>Aptos Display</vt:lpstr>
      <vt:lpstr>Arial</vt:lpstr>
      <vt:lpstr>JetBrainsMono NF</vt:lpstr>
      <vt:lpstr>VCR OSD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MURUTHAWATHTHE GEDARA LAKSHAN NIROSHAN KUMARARATHNA</dc:creator>
  <cp:lastModifiedBy>MURUTHAWATHTHE GEDARA LAKSHAN NIROSHAN KUMARARATHNA</cp:lastModifiedBy>
  <cp:revision>5</cp:revision>
  <dcterms:created xsi:type="dcterms:W3CDTF">2026-02-17T16:13:08Z</dcterms:created>
  <dcterms:modified xsi:type="dcterms:W3CDTF">2026-02-19T10:06:05Z</dcterms:modified>
</cp:coreProperties>
</file>